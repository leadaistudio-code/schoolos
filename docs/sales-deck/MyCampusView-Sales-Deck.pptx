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sentence, not on us. 'One operating system for your entire school' is the whole argument — everything after this slide is evidence for it.</a:t>
            </a:r>
          </a:p>
          <a:p/>
          <a:p>
            <a:r>
              <a:t>Say who we built this for: private schools, international schools, preschools and multi-campus groups. Large enough that spreadsheets have started to hurt, small enough that enterprise software would be absurd. If they are outside that, say so now.</a:t>
            </a:r>
          </a:p>
          <a:p/>
          <a:p>
            <a:r>
              <a:t>Do not read the sub-line aloud. Let them read it while you ask the first question: 'Before I show you anything — what does your office actually do on a Monday?'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you stop presenting and start listening. Read two of the six, then ask which of them they recognise. Whichever they pick is the module you demo first.</a:t>
            </a:r>
          </a:p>
          <a:p/>
          <a:p>
            <a:r>
              <a:t>The line that lands with owners is the last one: the cost is not the licence fee, it is the reconciliation hour and the mistrust. Nobody budgets for it, so nobody has ever priced what it costs them.</a:t>
            </a:r>
          </a:p>
          <a:p/>
          <a:p>
            <a:r>
              <a:t>Do not argue with their current vendor by name. Describe the shape of the problem and let them place their own software inside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to hold on to: integration is not the same as one system. Integrated products agree on a schedule. One database agrees continuously, because there is only one copy of the fact.</a:t>
            </a:r>
          </a:p>
          <a:p/>
          <a:p>
            <a:r>
              <a:t>The 11:04 line is the one to say slowly. It is the whole difference, expressed as something an accounts clerk has actually experienced.</a:t>
            </a:r>
          </a:p>
          <a:p/>
          <a:p>
            <a:r>
              <a:t>If they push back — 'our vendor says everything is integrated' — ask the diagnostic question: if you correct a student's name in the fee system, when does the register show it? The answer is usually 'tomorrow', or 'you have to change it in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products, one record. Say the abbreviations out loud — CRM, SIS, ERP — because that is how a director has been taught to compare quotes, and it lets them see that three line items on their shortlist are one line item here.</a:t>
            </a:r>
          </a:p>
          <a:p/>
          <a:p>
            <a:r>
              <a:t>The closing paragraph is the answer to 'is it safe to give teachers logins?'. Separation is enforced when data is read, not by hiding menu items: a link typed by hand returns nothing rather than someone else's record.</a:t>
            </a:r>
          </a:p>
          <a:p/>
          <a:p>
            <a:r>
              <a:t>If the IT person is on the call, offer to walk them through the isolation tests directly.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figures are deliberately modest and every one can be checked by opening the product. We publish no customer counts and no retention rates, because we will not put a number in front of a school that we cannot stand behind.</a:t>
            </a:r>
          </a:p>
          <a:p/>
          <a:p>
            <a:r>
              <a:t>'100% of queries scoped to one school' is the one a group or a trust will care about. It means a staff member at one campus cannot reach another campus, and that this is enforced below the screens rather than remembered by each of them.</a:t>
            </a:r>
          </a:p>
          <a:p/>
          <a:p>
            <a:r>
              <a:t>If they ask what is NOT built: 3 modules in build, 8 planned, all named on the website. Volunteering that is what makes the other 50 believable.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slide. Put it up, let them scan it, and ask which four matter to their office. Then demo those four properly instead of all fifty badly.</a:t>
            </a:r>
          </a:p>
          <a:p/>
          <a:p>
            <a:r>
              <a:t>The sentence that earns trust here is the one about labelling. Our public module page carries a status on every module — available, in build, or planned — and nothing is described as available unless the screen exists. A school finds out what is missing in the first month either way; finding out now costs us some enquiries and saves both sides an implementation sold on something that did not exist.</a:t>
            </a:r>
          </a:p>
          <a:p/>
          <a:p>
            <a:r>
              <a:t>If a module they need is planned, say so plainly and tell them which schools asking for what is how the build order gets decided.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a principal buys from. Everything on it is a live query, not a nightly rollup — the collection figure moves while you are looking at it.</a:t>
            </a:r>
          </a:p>
          <a:p/>
          <a:p>
            <a:r>
              <a:t>Point at the 'needs attention' row specifically. It is the difference between a dashboard that reports and one that hands you today's work: registers nobody submitted, invoices past their date, leave sitting unapproved.</a:t>
            </a:r>
          </a:p>
          <a:p/>
          <a:p>
            <a:r>
              <a:t>Principals and school admins get this. Students and parents get a fundamentally different page, not a cut-down version of this one — worth saying, because the first worry is always 'what will parents be able to see?'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owner, this is the revenue slide. Everything else on the platform saves cost; admissions is the one that adds fee income, and it is usually the least instrumented part of the school.</a:t>
            </a:r>
          </a:p>
          <a:p/>
          <a:p>
            <a:r>
              <a:t>Two questions worth asking here, in this order: how many enquiries did you take last season, and how many can you account for by name today? The gap between those answers is the business case, and they will work it out themselves.</a:t>
            </a:r>
          </a:p>
          <a:p/>
          <a:p>
            <a:r>
              <a:t>'Conversion by owner' is the counsellor-performance conversation. Handle it carefully with the principal in the room — frame it as knowing which sources deserve more spend, not as monitoring staff.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that these are not six modules that happen to mention a student. They are six views of one row.</a:t>
            </a:r>
          </a:p>
          <a:p/>
          <a:p>
            <a:r>
              <a:t>Two details that reliably land with an academic head: marks are validated against the paper's maximum at the point of entry, so an impossible score is refused rather than found at report-card time; and results are computed but withheld until somebody with the right permission publishes them.</a:t>
            </a:r>
          </a:p>
          <a:p/>
          <a:p>
            <a:r>
              <a:t>For attendance, the thing to stress is that absent, late, half day and approved leave are distinct states, because a school treats them differently and a single present/absent flag forces the office to keep a second 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adoption is what decides whether school software survives past month three, so this slide is about time, not features.</a:t>
            </a:r>
          </a:p>
          <a:p/>
          <a:p>
            <a:r>
              <a:t>The strongest single line: a question written and approved this year is reusable every year after. Most schools rebuild the same unit test from scratch annually because it lives in a personal folder on a personal laptop.</a:t>
            </a:r>
          </a:p>
          <a:p/>
          <a:p>
            <a:r>
              <a:t>On generated questions, be precise and be first to raise the limit: they are drafts, built from the school's own published syllabus rather than from the subject name, and nothing generated can reach a paper without a teacher approving it. Teachers relax when they hear the approval step before they think to ask for it. Question generation needs the AI module on the school's plan.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Parent transparency is the part of this that a school markets. Feedback is the part that quietly changes the school.</a:t>
            </a:r>
          </a:p>
          <a:p/>
          <a:p>
            <a:r>
              <a:t>The design detail that matters to teachers, and you should volunteer it: responses are anonymous to the teacher and are withheld entirely until a minimum number have come in, so one aggrieved child cannot become a teacher's rating. Say that before a teacher on the call has to ask.</a:t>
            </a:r>
          </a:p>
          <a:p/>
          <a:p>
            <a:r>
              <a:t>For the principal: the value is not the score, it is the action item — a concern with an owner and a due date, which is the difference between collecting feedback and acting on it. Ask what they currently do with the PTM feedback forms they already collect.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the accounts person into this one. They will test it in ten seconds with a part-payment question, so answer it before they ask: part payments are allocated across invoices oldest first, and every allocation is conserved to the paisa.</a:t>
            </a:r>
          </a:p>
          <a:p/>
          <a:p>
            <a:r>
              <a:t>Concessions are applied to the record, not to the receipt. That sounds like a technical distinction and it is not — it is why a sibling concession still shows correctly in outstanding a year later.</a:t>
            </a:r>
          </a:p>
          <a:p/>
          <a:p>
            <a:r>
              <a:t>Ask how long it currently takes to answer 'what is outstanding for Class 6, today'. Most schools answer in days. Then show them the arrears ageing screen.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this live if the connection allows. It is the moment that separates the deck from every other school-ERP deck a director has sat through.</a:t>
            </a:r>
          </a:p>
          <a:p/>
          <a:p>
            <a:r>
              <a:t>Lead with the grounding rule, not the novelty. An assistant that guesses a fee balance is worse than no assistant, because a wrong number looks exactly as authoritative as a right one and a principal may repeat it to a parent. Ours cannot state a figure that did not come from a tool call against their records, and every answer carries a link to the record it came from.</a:t>
            </a:r>
          </a:p>
          <a:p/>
          <a:p>
            <a:r>
              <a:t>Then the safety line: it drafts, you send. It has never sent a message on its own.</a:t>
            </a:r>
          </a:p>
          <a:p/>
          <a:p>
            <a:r>
              <a:t>Commercially: the assistant is a module on the school's plan and is switched on per school. Do not promise it inside a starter quote.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column is why they buy. Right column is why they believe they can survive the switch — and the second objection is usually the bigger one.</a:t>
            </a:r>
          </a:p>
          <a:p/>
          <a:p>
            <a:r>
              <a:t>Most failed school software was not bad software. It was installed, never populated properly, and abandoned by the third month. Say that, then walk the six steps.</a:t>
            </a:r>
          </a:p>
          <a:p/>
          <a:p>
            <a:r>
              <a:t>Two commitments worth making explicitly: migration reports every row that does not fit rather than quietly dropping it, and go-live is timed to a term boundary wherever possible so nobody is asked to switch fee systems mid-term.</a:t>
            </a:r>
          </a:p>
          <a:p/>
          <a:p>
            <a:r>
              <a:t>The weeks are ranges, not promises. Do not tighten them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and make the ask small: a call, forty minutes, with the office staff present rather than only the director. They will spot in ten minutes what a director cannot.</a:t>
            </a:r>
          </a:p>
          <a:p/>
          <a:p>
            <a:r>
              <a:t>The last line is the close, and it is not a flourish. A director who has been oversold twice before buys from the vendor who volunteers the gaps. We publish what is not built on our own feature page; say so.</a:t>
            </a:r>
          </a:p>
          <a:p/>
          <a:p>
            <a:r>
              <a:t>Book the next call before you leave the room. Confirm who will be on it and which four modules they want to see.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gradFill rotWithShape="1">
            <a:gsLst>
              <a:gs pos="0">
                <a:srgbClr val="6C4BF4">
                  <a:alpha val="44000"/>
                </a:srgbClr>
              </a:gs>
              <a:gs pos="45000">
                <a:srgbClr val="6C4BF4">
                  <a:alpha val="14960"/>
                </a:srgbClr>
              </a:gs>
              <a:gs pos="100000">
                <a:srgbClr val="6C4BF4">
                  <a:alpha val="0"/>
                </a:srgbClr>
              </a:gs>
            </a:gsLst>
            <a:lin ang="81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gradFill rotWithShape="1">
            <a:gsLst>
              <a:gs pos="0">
                <a:srgbClr val="EF5BA8">
                  <a:alpha val="15000"/>
                </a:srgbClr>
              </a:gs>
              <a:gs pos="45000">
                <a:srgbClr val="EF5BA8">
                  <a:alpha val="5100"/>
                </a:srgbClr>
              </a:gs>
              <a:gs pos="100000">
                <a:srgbClr val="EF5BA8">
                  <a:alpha val="0"/>
                </a:srgbClr>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ycampusview-lockup.png"/>
          <p:cNvPicPr>
            <a:picLocks noChangeAspect="1"/>
          </p:cNvPicPr>
          <p:nvPr/>
        </p:nvPicPr>
        <p:blipFill>
          <a:blip r:embed="rId2"/>
          <a:stretch>
            <a:fillRect/>
          </a:stretch>
        </p:blipFill>
        <p:spPr>
          <a:xfrm>
            <a:off x="786384" y="749808"/>
            <a:ext cx="3213488" cy="566928"/>
          </a:xfrm>
          <a:prstGeom prst="rect">
            <a:avLst/>
          </a:prstGeom>
        </p:spPr>
      </p:pic>
      <p:sp>
        <p:nvSpPr>
          <p:cNvPr id="6" name="TextBox 5"/>
          <p:cNvSpPr txBox="1"/>
          <p:nvPr/>
        </p:nvSpPr>
        <p:spPr>
          <a:xfrm>
            <a:off x="786384" y="2761488"/>
            <a:ext cx="6400800" cy="191643"/>
          </a:xfrm>
          <a:prstGeom prst="rect">
            <a:avLst/>
          </a:prstGeom>
          <a:noFill/>
        </p:spPr>
        <p:txBody>
          <a:bodyPr wrap="square" lIns="0" rIns="0" tIns="0" bIns="0" anchor="t">
            <a:spAutoFit/>
          </a:bodyPr>
          <a:lstStyle/>
          <a:p>
            <a:pPr algn="l">
              <a:lnSpc>
                <a:spcPts val="1365"/>
              </a:lnSpc>
            </a:pPr>
            <a:r>
              <a:rPr sz="1050" spc="180">
                <a:solidFill>
                  <a:srgbClr val="B57FF0"/>
                </a:solidFill>
                <a:latin typeface="Segoe UI Semibold"/>
              </a:rPr>
              <a:t>SCHOOL MANAGEMENT PLATFORM</a:t>
            </a:r>
          </a:p>
        </p:txBody>
      </p:sp>
      <p:sp>
        <p:nvSpPr>
          <p:cNvPr id="7" name="TextBox 6"/>
          <p:cNvSpPr txBox="1"/>
          <p:nvPr/>
        </p:nvSpPr>
        <p:spPr>
          <a:xfrm>
            <a:off x="786384" y="3172587"/>
            <a:ext cx="7498079" cy="1256792"/>
          </a:xfrm>
          <a:prstGeom prst="rect">
            <a:avLst/>
          </a:prstGeom>
          <a:noFill/>
        </p:spPr>
        <p:txBody>
          <a:bodyPr wrap="square" lIns="0" rIns="0" tIns="0" bIns="0" anchor="t">
            <a:spAutoFit/>
          </a:bodyPr>
          <a:lstStyle/>
          <a:p>
            <a:pPr algn="l">
              <a:lnSpc>
                <a:spcPts val="4876"/>
              </a:lnSpc>
            </a:pPr>
            <a:r>
              <a:rPr sz="4600">
                <a:solidFill>
                  <a:srgbClr val="F6F5F2"/>
                </a:solidFill>
                <a:latin typeface="Segoe UI Semibold"/>
              </a:rPr>
              <a:t>One operating system</a:t>
            </a:r>
          </a:p>
          <a:p>
            <a:pPr algn="l">
              <a:lnSpc>
                <a:spcPts val="4876"/>
              </a:lnSpc>
            </a:pPr>
            <a:r>
              <a:rPr sz="4600">
                <a:solidFill>
                  <a:srgbClr val="F6F5F2"/>
                </a:solidFill>
                <a:latin typeface="Segoe UI Semibold"/>
              </a:rPr>
              <a:t>for your entire school.</a:t>
            </a:r>
          </a:p>
        </p:txBody>
      </p:sp>
      <p:sp>
        <p:nvSpPr>
          <p:cNvPr id="8" name="TextBox 7"/>
          <p:cNvSpPr txBox="1"/>
          <p:nvPr/>
        </p:nvSpPr>
        <p:spPr>
          <a:xfrm>
            <a:off x="786384" y="4721987"/>
            <a:ext cx="6309360" cy="818388"/>
          </a:xfrm>
          <a:prstGeom prst="rect">
            <a:avLst/>
          </a:prstGeom>
          <a:noFill/>
        </p:spPr>
        <p:txBody>
          <a:bodyPr wrap="square" lIns="0" rIns="0" tIns="0" bIns="0" anchor="t">
            <a:spAutoFit/>
          </a:bodyPr>
          <a:lstStyle/>
          <a:p>
            <a:pPr algn="l">
              <a:lnSpc>
                <a:spcPts val="2100"/>
              </a:lnSpc>
            </a:pPr>
            <a:r>
              <a:rPr sz="1400">
                <a:solidFill>
                  <a:srgbClr val="ADB3C6"/>
                </a:solidFill>
                <a:latin typeface="Segoe UI"/>
              </a:rPr>
              <a:t>Admissions, student records, academics, fees, attendance, staff, parent communication and school operations run on one connected platform — not six that have to be reconciled.</a:t>
            </a:r>
          </a:p>
        </p:txBody>
      </p:sp>
      <p:sp>
        <p:nvSpPr>
          <p:cNvPr id="9" name="Rectangle 8"/>
          <p:cNvSpPr/>
          <p:nvPr/>
        </p:nvSpPr>
        <p:spPr>
          <a:xfrm>
            <a:off x="786384" y="5943600"/>
            <a:ext cx="10618927"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6144768"/>
            <a:ext cx="6766560" cy="215455"/>
          </a:xfrm>
          <a:prstGeom prst="rect">
            <a:avLst/>
          </a:prstGeom>
          <a:noFill/>
        </p:spPr>
        <p:txBody>
          <a:bodyPr wrap="square" lIns="0" rIns="0" tIns="0" bIns="0" anchor="t">
            <a:spAutoFit/>
          </a:bodyPr>
          <a:lstStyle/>
          <a:p>
            <a:pPr algn="l">
              <a:lnSpc>
                <a:spcPts val="1552"/>
              </a:lnSpc>
            </a:pPr>
            <a:r>
              <a:rPr sz="1150">
                <a:solidFill>
                  <a:srgbClr val="ADB3C6"/>
                </a:solidFill>
                <a:latin typeface="Segoe UI"/>
              </a:rPr>
              <a:t>Built for private schools, international schools, preschools and multi-campus groups.</a:t>
            </a:r>
          </a:p>
        </p:txBody>
      </p:sp>
      <p:sp>
        <p:nvSpPr>
          <p:cNvPr id="11" name="TextBox 10"/>
          <p:cNvSpPr txBox="1"/>
          <p:nvPr/>
        </p:nvSpPr>
        <p:spPr>
          <a:xfrm>
            <a:off x="786384" y="6144768"/>
            <a:ext cx="10618927" cy="215455"/>
          </a:xfrm>
          <a:prstGeom prst="rect">
            <a:avLst/>
          </a:prstGeom>
          <a:noFill/>
        </p:spPr>
        <p:txBody>
          <a:bodyPr wrap="square" lIns="0" rIns="0" tIns="0" bIns="0" anchor="t">
            <a:spAutoFit/>
          </a:bodyPr>
          <a:lstStyle/>
          <a:p>
            <a:pPr algn="r">
              <a:lnSpc>
                <a:spcPts val="1552"/>
              </a:lnSpc>
            </a:pPr>
            <a:r>
              <a:rPr sz="1150" spc="60">
                <a:solidFill>
                  <a:srgbClr val="F0A63C"/>
                </a:solidFill>
                <a:latin typeface="Segoe UI Semibold"/>
              </a:rPr>
              <a:t>Explore Today, Excel Tomorrow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60704"/>
            <a:ext cx="6400800" cy="191643"/>
          </a:xfrm>
          <a:prstGeom prst="rect">
            <a:avLst/>
          </a:prstGeom>
          <a:noFill/>
        </p:spPr>
        <p:txBody>
          <a:bodyPr wrap="square" lIns="0" rIns="0" tIns="0" bIns="0" anchor="t">
            <a:spAutoFit/>
          </a:bodyPr>
          <a:lstStyle/>
          <a:p>
            <a:pPr algn="l">
              <a:lnSpc>
                <a:spcPts val="1365"/>
              </a:lnSpc>
            </a:pPr>
            <a:r>
              <a:rPr sz="1050" spc="180">
                <a:solidFill>
                  <a:srgbClr val="EF5BA8"/>
                </a:solidFill>
                <a:latin typeface="Segoe UI Semibold"/>
              </a:rPr>
              <a:t>THE PROBLEM</a:t>
            </a:r>
          </a:p>
        </p:txBody>
      </p:sp>
      <p:sp>
        <p:nvSpPr>
          <p:cNvPr id="5" name="TextBox 4"/>
          <p:cNvSpPr txBox="1"/>
          <p:nvPr/>
        </p:nvSpPr>
        <p:spPr>
          <a:xfrm>
            <a:off x="786384" y="1435227"/>
            <a:ext cx="5852160" cy="978408"/>
          </a:xfrm>
          <a:prstGeom prst="rect">
            <a:avLst/>
          </a:prstGeom>
          <a:noFill/>
        </p:spPr>
        <p:txBody>
          <a:bodyPr wrap="square" lIns="0" rIns="0" tIns="0" bIns="0" anchor="t">
            <a:spAutoFit/>
          </a:bodyPr>
          <a:lstStyle/>
          <a:p>
            <a:pPr algn="l">
              <a:lnSpc>
                <a:spcPts val="3780"/>
              </a:lnSpc>
            </a:pPr>
            <a:r>
              <a:rPr sz="3500">
                <a:solidFill>
                  <a:srgbClr val="0A1024"/>
                </a:solidFill>
                <a:latin typeface="Segoe UI Semibold"/>
              </a:rPr>
              <a:t>Most schools run something</a:t>
            </a:r>
          </a:p>
          <a:p>
            <a:pPr algn="l">
              <a:lnSpc>
                <a:spcPts val="3780"/>
              </a:lnSpc>
            </a:pPr>
            <a:r>
              <a:rPr sz="3500">
                <a:solidFill>
                  <a:srgbClr val="0A1024"/>
                </a:solidFill>
                <a:latin typeface="Segoe UI Semibold"/>
              </a:rPr>
              <a:t>critical on a spreadsheet.</a:t>
            </a:r>
          </a:p>
        </p:txBody>
      </p:sp>
      <p:sp>
        <p:nvSpPr>
          <p:cNvPr id="6" name="TextBox 5"/>
          <p:cNvSpPr txBox="1"/>
          <p:nvPr/>
        </p:nvSpPr>
        <p:spPr>
          <a:xfrm>
            <a:off x="786384" y="2669667"/>
            <a:ext cx="5029200" cy="513587"/>
          </a:xfrm>
          <a:prstGeom prst="rect">
            <a:avLst/>
          </a:prstGeom>
          <a:noFill/>
        </p:spPr>
        <p:txBody>
          <a:bodyPr wrap="square" lIns="0" rIns="0" tIns="0" bIns="0" anchor="t">
            <a:spAutoFit/>
          </a:bodyPr>
          <a:lstStyle/>
          <a:p>
            <a:pPr algn="l">
              <a:lnSpc>
                <a:spcPts val="1950"/>
              </a:lnSpc>
            </a:pPr>
            <a:r>
              <a:rPr sz="1300">
                <a:solidFill>
                  <a:srgbClr val="535B6E"/>
                </a:solidFill>
                <a:latin typeface="Segoe UI"/>
              </a:rPr>
              <a:t>Fee registers, admission enquiries, transport lists, sometimes attendance. It works until the person who maintains it is on leave.</a:t>
            </a:r>
          </a:p>
        </p:txBody>
      </p:sp>
      <p:sp>
        <p:nvSpPr>
          <p:cNvPr id="7" name="TextBox 6"/>
          <p:cNvSpPr txBox="1"/>
          <p:nvPr/>
        </p:nvSpPr>
        <p:spPr>
          <a:xfrm>
            <a:off x="6858000" y="2157984"/>
            <a:ext cx="4572000" cy="786384"/>
          </a:xfrm>
          <a:prstGeom prst="rect">
            <a:avLst/>
          </a:prstGeom>
          <a:noFill/>
        </p:spPr>
        <p:txBody>
          <a:bodyPr wrap="square" lIns="0" rIns="0" tIns="0" bIns="0" anchor="t">
            <a:spAutoFit/>
          </a:bodyPr>
          <a:lstStyle/>
          <a:p>
            <a:pPr algn="l">
              <a:lnSpc>
                <a:spcPts val="2016"/>
              </a:lnSpc>
            </a:pPr>
            <a:r>
              <a:rPr sz="1400">
                <a:solidFill>
                  <a:srgbClr val="0A1024"/>
                </a:solidFill>
                <a:latin typeface="Segoe UI Semibold"/>
              </a:rPr>
              <a:t>The cost is not the licence fees. It is the hour a week each office spends reconciling — and the decisions made on figures nobody quite trusts.</a:t>
            </a:r>
          </a:p>
        </p:txBody>
      </p:sp>
      <p:sp>
        <p:nvSpPr>
          <p:cNvPr id="8" name="Rectangle 7"/>
          <p:cNvSpPr/>
          <p:nvPr/>
        </p:nvSpPr>
        <p:spPr>
          <a:xfrm>
            <a:off x="786384" y="3529584"/>
            <a:ext cx="10618927"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3877056"/>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4005072"/>
            <a:ext cx="3222650"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Enquiries live in a notebook</a:t>
            </a:r>
          </a:p>
        </p:txBody>
      </p:sp>
      <p:sp>
        <p:nvSpPr>
          <p:cNvPr id="11" name="TextBox 10"/>
          <p:cNvSpPr txBox="1"/>
          <p:nvPr/>
        </p:nvSpPr>
        <p:spPr>
          <a:xfrm>
            <a:off x="786384" y="4235196"/>
            <a:ext cx="3222650" cy="356819"/>
          </a:xfrm>
          <a:prstGeom prst="rect">
            <a:avLst/>
          </a:prstGeom>
          <a:noFill/>
        </p:spPr>
        <p:txBody>
          <a:bodyPr wrap="square" lIns="0" rIns="0" tIns="0" bIns="0" anchor="t">
            <a:spAutoFit/>
          </a:bodyPr>
          <a:lstStyle/>
          <a:p>
            <a:pPr algn="l">
              <a:lnSpc>
                <a:spcPts val="1332"/>
              </a:lnSpc>
            </a:pPr>
            <a:r>
              <a:rPr sz="980">
                <a:solidFill>
                  <a:srgbClr val="535B6E"/>
                </a:solidFill>
                <a:latin typeface="Segoe UI"/>
              </a:rPr>
              <a:t>A name on a pad, a follow-up nobody owned, a family who visited twice and was never called back.</a:t>
            </a:r>
          </a:p>
        </p:txBody>
      </p:sp>
      <p:sp>
        <p:nvSpPr>
          <p:cNvPr id="12" name="Rectangle 11"/>
          <p:cNvSpPr/>
          <p:nvPr/>
        </p:nvSpPr>
        <p:spPr>
          <a:xfrm>
            <a:off x="4484522" y="3877056"/>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4522" y="4005072"/>
            <a:ext cx="3222650"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Every system keeps its own student list</a:t>
            </a:r>
          </a:p>
        </p:txBody>
      </p:sp>
      <p:sp>
        <p:nvSpPr>
          <p:cNvPr id="14" name="TextBox 13"/>
          <p:cNvSpPr txBox="1"/>
          <p:nvPr/>
        </p:nvSpPr>
        <p:spPr>
          <a:xfrm>
            <a:off x="4484522" y="4235196"/>
            <a:ext cx="3222650" cy="356819"/>
          </a:xfrm>
          <a:prstGeom prst="rect">
            <a:avLst/>
          </a:prstGeom>
          <a:noFill/>
        </p:spPr>
        <p:txBody>
          <a:bodyPr wrap="square" lIns="0" rIns="0" tIns="0" bIns="0" anchor="t">
            <a:spAutoFit/>
          </a:bodyPr>
          <a:lstStyle/>
          <a:p>
            <a:pPr algn="l">
              <a:lnSpc>
                <a:spcPts val="1332"/>
              </a:lnSpc>
            </a:pPr>
            <a:r>
              <a:rPr sz="980">
                <a:solidFill>
                  <a:srgbClr val="535B6E"/>
                </a:solidFill>
                <a:latin typeface="Segoe UI"/>
              </a:rPr>
              <a:t>Somebody exports a spreadsheet on Friday to make them agree. By Monday they disagree again.</a:t>
            </a:r>
          </a:p>
        </p:txBody>
      </p:sp>
      <p:sp>
        <p:nvSpPr>
          <p:cNvPr id="15" name="Rectangle 14"/>
          <p:cNvSpPr/>
          <p:nvPr/>
        </p:nvSpPr>
        <p:spPr>
          <a:xfrm>
            <a:off x="8182660" y="3877056"/>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2660" y="4005072"/>
            <a:ext cx="3222650"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Outstanding fees are an exercise, not a screen</a:t>
            </a:r>
          </a:p>
        </p:txBody>
      </p:sp>
      <p:sp>
        <p:nvSpPr>
          <p:cNvPr id="17" name="TextBox 16"/>
          <p:cNvSpPr txBox="1"/>
          <p:nvPr/>
        </p:nvSpPr>
        <p:spPr>
          <a:xfrm>
            <a:off x="8182660" y="4235196"/>
            <a:ext cx="3222650" cy="356819"/>
          </a:xfrm>
          <a:prstGeom prst="rect">
            <a:avLst/>
          </a:prstGeom>
          <a:noFill/>
        </p:spPr>
        <p:txBody>
          <a:bodyPr wrap="square" lIns="0" rIns="0" tIns="0" bIns="0" anchor="t">
            <a:spAutoFit/>
          </a:bodyPr>
          <a:lstStyle/>
          <a:p>
            <a:pPr algn="l">
              <a:lnSpc>
                <a:spcPts val="1332"/>
              </a:lnSpc>
            </a:pPr>
            <a:r>
              <a:rPr sz="980">
                <a:solidFill>
                  <a:srgbClr val="535B6E"/>
                </a:solidFill>
                <a:latin typeface="Segoe UI"/>
              </a:rPr>
              <a:t>Reconciling collection, attendance and results at the end of a term takes the office most of a week.</a:t>
            </a:r>
          </a:p>
        </p:txBody>
      </p:sp>
      <p:sp>
        <p:nvSpPr>
          <p:cNvPr id="18" name="Rectangle 17"/>
          <p:cNvSpPr/>
          <p:nvPr/>
        </p:nvSpPr>
        <p:spPr>
          <a:xfrm>
            <a:off x="786384" y="5177231"/>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5305247"/>
            <a:ext cx="3222650"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The office answers the same three questions</a:t>
            </a:r>
          </a:p>
        </p:txBody>
      </p:sp>
      <p:sp>
        <p:nvSpPr>
          <p:cNvPr id="20" name="TextBox 19"/>
          <p:cNvSpPr txBox="1"/>
          <p:nvPr/>
        </p:nvSpPr>
        <p:spPr>
          <a:xfrm>
            <a:off x="786384" y="5535371"/>
            <a:ext cx="3222650" cy="356819"/>
          </a:xfrm>
          <a:prstGeom prst="rect">
            <a:avLst/>
          </a:prstGeom>
          <a:noFill/>
        </p:spPr>
        <p:txBody>
          <a:bodyPr wrap="square" lIns="0" rIns="0" tIns="0" bIns="0" anchor="t">
            <a:spAutoFit/>
          </a:bodyPr>
          <a:lstStyle/>
          <a:p>
            <a:pPr algn="l">
              <a:lnSpc>
                <a:spcPts val="1332"/>
              </a:lnSpc>
            </a:pPr>
            <a:r>
              <a:rPr sz="980">
                <a:solidFill>
                  <a:srgbClr val="535B6E"/>
                </a:solidFill>
                <a:latin typeface="Segoe UI"/>
              </a:rPr>
              <a:t>Was she marked present. What is the homework. How much is left to pay.</a:t>
            </a:r>
          </a:p>
        </p:txBody>
      </p:sp>
      <p:sp>
        <p:nvSpPr>
          <p:cNvPr id="21" name="Rectangle 20"/>
          <p:cNvSpPr/>
          <p:nvPr/>
        </p:nvSpPr>
        <p:spPr>
          <a:xfrm>
            <a:off x="4484522" y="5177231"/>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4522" y="5305247"/>
            <a:ext cx="3222650"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The numbers are always a week old</a:t>
            </a:r>
          </a:p>
        </p:txBody>
      </p:sp>
      <p:sp>
        <p:nvSpPr>
          <p:cNvPr id="23" name="TextBox 22"/>
          <p:cNvSpPr txBox="1"/>
          <p:nvPr/>
        </p:nvSpPr>
        <p:spPr>
          <a:xfrm>
            <a:off x="4484522" y="5535371"/>
            <a:ext cx="3222650" cy="356819"/>
          </a:xfrm>
          <a:prstGeom prst="rect">
            <a:avLst/>
          </a:prstGeom>
          <a:noFill/>
        </p:spPr>
        <p:txBody>
          <a:bodyPr wrap="square" lIns="0" rIns="0" tIns="0" bIns="0" anchor="t">
            <a:spAutoFit/>
          </a:bodyPr>
          <a:lstStyle/>
          <a:p>
            <a:pPr algn="l">
              <a:lnSpc>
                <a:spcPts val="1332"/>
              </a:lnSpc>
            </a:pPr>
            <a:r>
              <a:rPr sz="980">
                <a:solidFill>
                  <a:srgbClr val="535B6E"/>
                </a:solidFill>
                <a:latin typeface="Segoe UI"/>
              </a:rPr>
              <a:t>Reporting is an export somebody took last night, not the position as it stands this morning.</a:t>
            </a:r>
          </a:p>
        </p:txBody>
      </p:sp>
      <p:sp>
        <p:nvSpPr>
          <p:cNvPr id="24" name="Rectangle 23"/>
          <p:cNvSpPr/>
          <p:nvPr/>
        </p:nvSpPr>
        <p:spPr>
          <a:xfrm>
            <a:off x="8182660" y="5177231"/>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82660" y="5305247"/>
            <a:ext cx="3222650"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Two screens, two answers</a:t>
            </a:r>
          </a:p>
        </p:txBody>
      </p:sp>
      <p:sp>
        <p:nvSpPr>
          <p:cNvPr id="26" name="TextBox 25"/>
          <p:cNvSpPr txBox="1"/>
          <p:nvPr/>
        </p:nvSpPr>
        <p:spPr>
          <a:xfrm>
            <a:off x="8182660" y="5535371"/>
            <a:ext cx="3222650" cy="356819"/>
          </a:xfrm>
          <a:prstGeom prst="rect">
            <a:avLst/>
          </a:prstGeom>
          <a:noFill/>
        </p:spPr>
        <p:txBody>
          <a:bodyPr wrap="square" lIns="0" rIns="0" tIns="0" bIns="0" anchor="t">
            <a:spAutoFit/>
          </a:bodyPr>
          <a:lstStyle/>
          <a:p>
            <a:pPr algn="l">
              <a:lnSpc>
                <a:spcPts val="1332"/>
              </a:lnSpc>
            </a:pPr>
            <a:r>
              <a:rPr sz="980">
                <a:solidFill>
                  <a:srgbClr val="535B6E"/>
                </a:solidFill>
                <a:latin typeface="Segoe UI"/>
              </a:rPr>
              <a:t>Confidence is lost the first time two systems disagree in front of a parent.</a:t>
            </a:r>
          </a:p>
        </p:txBody>
      </p:sp>
      <p:sp>
        <p:nvSpPr>
          <p:cNvPr id="27" name="TextBox 26"/>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gradFill rotWithShape="1">
            <a:gsLst>
              <a:gs pos="0">
                <a:srgbClr val="6C4BF4">
                  <a:alpha val="20000"/>
                </a:srgbClr>
              </a:gs>
              <a:gs pos="45000">
                <a:srgbClr val="6C4BF4">
                  <a:alpha val="6800"/>
                </a:srgbClr>
              </a:gs>
              <a:gs pos="100000">
                <a:srgbClr val="6C4BF4">
                  <a:alpha val="0"/>
                </a:srgbClr>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ycampusview-lockup.png"/>
          <p:cNvPicPr>
            <a:picLocks noChangeAspect="1"/>
          </p:cNvPicPr>
          <p:nvPr/>
        </p:nvPicPr>
        <p:blipFill>
          <a:blip r:embed="rId2"/>
          <a:stretch>
            <a:fillRect/>
          </a:stretch>
        </p:blipFill>
        <p:spPr>
          <a:xfrm>
            <a:off x="786384" y="420624"/>
            <a:ext cx="984778" cy="173736"/>
          </a:xfrm>
          <a:prstGeom prst="rect">
            <a:avLst/>
          </a:prstGeom>
        </p:spPr>
      </p:pic>
      <p:sp>
        <p:nvSpPr>
          <p:cNvPr id="5" name="TextBox 4"/>
          <p:cNvSpPr txBox="1"/>
          <p:nvPr/>
        </p:nvSpPr>
        <p:spPr>
          <a:xfrm>
            <a:off x="786384" y="1097280"/>
            <a:ext cx="6400800" cy="191643"/>
          </a:xfrm>
          <a:prstGeom prst="rect">
            <a:avLst/>
          </a:prstGeom>
          <a:noFill/>
        </p:spPr>
        <p:txBody>
          <a:bodyPr wrap="square" lIns="0" rIns="0" tIns="0" bIns="0" anchor="t">
            <a:spAutoFit/>
          </a:bodyPr>
          <a:lstStyle/>
          <a:p>
            <a:pPr algn="l">
              <a:lnSpc>
                <a:spcPts val="1365"/>
              </a:lnSpc>
            </a:pPr>
            <a:r>
              <a:rPr sz="1050" spc="180">
                <a:solidFill>
                  <a:srgbClr val="F0A63C"/>
                </a:solidFill>
                <a:latin typeface="Segoe UI Semibold"/>
              </a:rPr>
              <a:t>THE ARGUMENT</a:t>
            </a:r>
          </a:p>
        </p:txBody>
      </p:sp>
      <p:sp>
        <p:nvSpPr>
          <p:cNvPr id="6" name="TextBox 5"/>
          <p:cNvSpPr txBox="1"/>
          <p:nvPr/>
        </p:nvSpPr>
        <p:spPr>
          <a:xfrm>
            <a:off x="786384" y="1471803"/>
            <a:ext cx="4572000" cy="978408"/>
          </a:xfrm>
          <a:prstGeom prst="rect">
            <a:avLst/>
          </a:prstGeom>
          <a:noFill/>
        </p:spPr>
        <p:txBody>
          <a:bodyPr wrap="square" lIns="0" rIns="0" tIns="0" bIns="0" anchor="t">
            <a:spAutoFit/>
          </a:bodyPr>
          <a:lstStyle/>
          <a:p>
            <a:pPr algn="l">
              <a:lnSpc>
                <a:spcPts val="3780"/>
              </a:lnSpc>
            </a:pPr>
            <a:r>
              <a:rPr sz="3500">
                <a:solidFill>
                  <a:srgbClr val="F6F5F2"/>
                </a:solidFill>
                <a:latin typeface="Segoe UI Semibold"/>
              </a:rPr>
              <a:t>Seven integrations,</a:t>
            </a:r>
          </a:p>
          <a:p>
            <a:pPr algn="l">
              <a:lnSpc>
                <a:spcPts val="3780"/>
              </a:lnSpc>
            </a:pPr>
            <a:r>
              <a:rPr sz="3500">
                <a:solidFill>
                  <a:srgbClr val="F6F5F2"/>
                </a:solidFill>
                <a:latin typeface="Segoe UI Semibold"/>
              </a:rPr>
              <a:t>or one record.</a:t>
            </a:r>
          </a:p>
        </p:txBody>
      </p:sp>
      <p:sp>
        <p:nvSpPr>
          <p:cNvPr id="7" name="TextBox 6"/>
          <p:cNvSpPr txBox="1"/>
          <p:nvPr/>
        </p:nvSpPr>
        <p:spPr>
          <a:xfrm>
            <a:off x="786384" y="2724531"/>
            <a:ext cx="3931920" cy="494538"/>
          </a:xfrm>
          <a:prstGeom prst="rect">
            <a:avLst/>
          </a:prstGeom>
          <a:noFill/>
        </p:spPr>
        <p:txBody>
          <a:bodyPr wrap="square" lIns="0" rIns="0" tIns="0" bIns="0" anchor="t">
            <a:spAutoFit/>
          </a:bodyPr>
          <a:lstStyle/>
          <a:p>
            <a:pPr algn="l">
              <a:lnSpc>
                <a:spcPts val="1875"/>
              </a:lnSpc>
            </a:pPr>
            <a:r>
              <a:rPr sz="1250">
                <a:solidFill>
                  <a:srgbClr val="ADB3C6"/>
                </a:solidFill>
                <a:latin typeface="Segoe UI"/>
              </a:rPr>
              <a:t>Schools usually buy an SIS, an accounting package and a messaging tool, then spend the year reconciling them.</a:t>
            </a:r>
          </a:p>
        </p:txBody>
      </p:sp>
      <p:sp>
        <p:nvSpPr>
          <p:cNvPr id="8" name="Rectangle 7"/>
          <p:cNvSpPr/>
          <p:nvPr/>
        </p:nvSpPr>
        <p:spPr>
          <a:xfrm>
            <a:off x="786384" y="4754880"/>
            <a:ext cx="3931920"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992624"/>
            <a:ext cx="3931920" cy="498347"/>
          </a:xfrm>
          <a:prstGeom prst="rect">
            <a:avLst/>
          </a:prstGeom>
          <a:noFill/>
        </p:spPr>
        <p:txBody>
          <a:bodyPr wrap="square" lIns="0" rIns="0" tIns="0" bIns="0" anchor="t">
            <a:spAutoFit/>
          </a:bodyPr>
          <a:lstStyle/>
          <a:p>
            <a:pPr algn="l">
              <a:lnSpc>
                <a:spcPts val="1889"/>
              </a:lnSpc>
            </a:pPr>
            <a:r>
              <a:rPr sz="1350">
                <a:solidFill>
                  <a:srgbClr val="F6F5F2"/>
                </a:solidFill>
                <a:latin typeface="Segoe UI Semibold"/>
              </a:rPr>
              <a:t>Because there is nothing to synchronise, there is nothing to fall out of sync.</a:t>
            </a:r>
          </a:p>
        </p:txBody>
      </p:sp>
      <p:sp>
        <p:nvSpPr>
          <p:cNvPr id="10" name="Rounded Rectangle 9"/>
          <p:cNvSpPr/>
          <p:nvPr/>
        </p:nvSpPr>
        <p:spPr>
          <a:xfrm>
            <a:off x="8339328" y="1060704"/>
            <a:ext cx="3694176" cy="4200588"/>
          </a:xfrm>
          <a:prstGeom prst="roundRect">
            <a:avLst>
              <a:gd name="adj" fmla="val 4500"/>
            </a:avLst>
          </a:prstGeom>
          <a:solidFill>
            <a:srgbClr val="121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5504" y="1389888"/>
            <a:ext cx="2962656" cy="319913"/>
          </a:xfrm>
          <a:prstGeom prst="rect">
            <a:avLst/>
          </a:prstGeom>
          <a:noFill/>
        </p:spPr>
        <p:txBody>
          <a:bodyPr wrap="square" lIns="0" rIns="0" tIns="0" bIns="0" anchor="t">
            <a:spAutoFit/>
          </a:bodyPr>
          <a:lstStyle/>
          <a:p>
            <a:pPr algn="l">
              <a:lnSpc>
                <a:spcPts val="1187"/>
              </a:lnSpc>
            </a:pPr>
            <a:r>
              <a:rPr sz="950" spc="140">
                <a:solidFill>
                  <a:srgbClr val="71798F"/>
                </a:solidFill>
                <a:latin typeface="Segoe UI Semibold"/>
              </a:rPr>
              <a:t>SEPARATE SYSTEMS, JOINED AFTERWARDS</a:t>
            </a:r>
          </a:p>
        </p:txBody>
      </p:sp>
      <p:sp>
        <p:nvSpPr>
          <p:cNvPr id="12" name="Rectangle 11"/>
          <p:cNvSpPr/>
          <p:nvPr/>
        </p:nvSpPr>
        <p:spPr>
          <a:xfrm>
            <a:off x="5175504" y="1837817"/>
            <a:ext cx="2962656"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504" y="2093849"/>
            <a:ext cx="2962656" cy="409448"/>
          </a:xfrm>
          <a:prstGeom prst="rect">
            <a:avLst/>
          </a:prstGeom>
          <a:noFill/>
        </p:spPr>
        <p:txBody>
          <a:bodyPr wrap="square" lIns="0" rIns="0" tIns="0" bIns="0" anchor="t">
            <a:spAutoFit/>
          </a:bodyPr>
          <a:lstStyle/>
          <a:p>
            <a:pPr algn="l">
              <a:lnSpc>
                <a:spcPts val="1539"/>
              </a:lnSpc>
            </a:pPr>
            <a:r>
              <a:rPr sz="1100">
                <a:solidFill>
                  <a:srgbClr val="ADB3C6"/>
                </a:solidFill>
                <a:latin typeface="Segoe UI"/>
              </a:rPr>
              <a:t>An admissions tool, a fee package and an attendance app</a:t>
            </a:r>
          </a:p>
        </p:txBody>
      </p:sp>
      <p:sp>
        <p:nvSpPr>
          <p:cNvPr id="14" name="TextBox 13"/>
          <p:cNvSpPr txBox="1"/>
          <p:nvPr/>
        </p:nvSpPr>
        <p:spPr>
          <a:xfrm>
            <a:off x="5175504" y="2731897"/>
            <a:ext cx="2962656" cy="213868"/>
          </a:xfrm>
          <a:prstGeom prst="rect">
            <a:avLst/>
          </a:prstGeom>
          <a:noFill/>
        </p:spPr>
        <p:txBody>
          <a:bodyPr wrap="square" lIns="0" rIns="0" tIns="0" bIns="0" anchor="t">
            <a:spAutoFit/>
          </a:bodyPr>
          <a:lstStyle/>
          <a:p>
            <a:pPr algn="l">
              <a:lnSpc>
                <a:spcPts val="1539"/>
              </a:lnSpc>
            </a:pPr>
            <a:r>
              <a:rPr sz="1100">
                <a:solidFill>
                  <a:srgbClr val="ADB3C6"/>
                </a:solidFill>
                <a:latin typeface="Segoe UI"/>
              </a:rPr>
              <a:t>Each holding its own copy of the student list</a:t>
            </a:r>
          </a:p>
        </p:txBody>
      </p:sp>
      <p:sp>
        <p:nvSpPr>
          <p:cNvPr id="15" name="TextBox 14"/>
          <p:cNvSpPr txBox="1"/>
          <p:nvPr/>
        </p:nvSpPr>
        <p:spPr>
          <a:xfrm>
            <a:off x="5175504" y="3174365"/>
            <a:ext cx="2962656" cy="409448"/>
          </a:xfrm>
          <a:prstGeom prst="rect">
            <a:avLst/>
          </a:prstGeom>
          <a:noFill/>
        </p:spPr>
        <p:txBody>
          <a:bodyPr wrap="square" lIns="0" rIns="0" tIns="0" bIns="0" anchor="t">
            <a:spAutoFit/>
          </a:bodyPr>
          <a:lstStyle/>
          <a:p>
            <a:pPr algn="l">
              <a:lnSpc>
                <a:spcPts val="1539"/>
              </a:lnSpc>
            </a:pPr>
            <a:r>
              <a:rPr sz="1100">
                <a:solidFill>
                  <a:srgbClr val="ADB3C6"/>
                </a:solidFill>
                <a:latin typeface="Segoe UI"/>
              </a:rPr>
              <a:t>A nightly sync that is really a person with a spreadsheet</a:t>
            </a:r>
          </a:p>
        </p:txBody>
      </p:sp>
      <p:sp>
        <p:nvSpPr>
          <p:cNvPr id="16" name="TextBox 15"/>
          <p:cNvSpPr txBox="1"/>
          <p:nvPr/>
        </p:nvSpPr>
        <p:spPr>
          <a:xfrm>
            <a:off x="5175504" y="3812413"/>
            <a:ext cx="2962656" cy="409448"/>
          </a:xfrm>
          <a:prstGeom prst="rect">
            <a:avLst/>
          </a:prstGeom>
          <a:noFill/>
        </p:spPr>
        <p:txBody>
          <a:bodyPr wrap="square" lIns="0" rIns="0" tIns="0" bIns="0" anchor="t">
            <a:spAutoFit/>
          </a:bodyPr>
          <a:lstStyle/>
          <a:p>
            <a:pPr algn="l">
              <a:lnSpc>
                <a:spcPts val="1539"/>
              </a:lnSpc>
            </a:pPr>
            <a:r>
              <a:rPr sz="1100">
                <a:solidFill>
                  <a:srgbClr val="ADB3C6"/>
                </a:solidFill>
                <a:latin typeface="Segoe UI"/>
              </a:rPr>
              <a:t>A correction made in the office that three systems never hear about</a:t>
            </a:r>
          </a:p>
        </p:txBody>
      </p:sp>
      <p:sp>
        <p:nvSpPr>
          <p:cNvPr id="17" name="TextBox 16"/>
          <p:cNvSpPr txBox="1"/>
          <p:nvPr/>
        </p:nvSpPr>
        <p:spPr>
          <a:xfrm>
            <a:off x="5175504" y="4450461"/>
            <a:ext cx="2962656" cy="409448"/>
          </a:xfrm>
          <a:prstGeom prst="rect">
            <a:avLst/>
          </a:prstGeom>
          <a:noFill/>
        </p:spPr>
        <p:txBody>
          <a:bodyPr wrap="square" lIns="0" rIns="0" tIns="0" bIns="0" anchor="t">
            <a:spAutoFit/>
          </a:bodyPr>
          <a:lstStyle/>
          <a:p>
            <a:pPr algn="l">
              <a:lnSpc>
                <a:spcPts val="1539"/>
              </a:lnSpc>
            </a:pPr>
            <a:r>
              <a:rPr sz="1100">
                <a:solidFill>
                  <a:srgbClr val="ADB3C6"/>
                </a:solidFill>
                <a:latin typeface="Segoe UI"/>
              </a:rPr>
              <a:t>Reporting assembled by hand, a week behind the school</a:t>
            </a:r>
          </a:p>
        </p:txBody>
      </p:sp>
      <p:sp>
        <p:nvSpPr>
          <p:cNvPr id="18" name="TextBox 17"/>
          <p:cNvSpPr txBox="1"/>
          <p:nvPr/>
        </p:nvSpPr>
        <p:spPr>
          <a:xfrm>
            <a:off x="8705088" y="1389888"/>
            <a:ext cx="2962656" cy="169100"/>
          </a:xfrm>
          <a:prstGeom prst="rect">
            <a:avLst/>
          </a:prstGeom>
          <a:noFill/>
        </p:spPr>
        <p:txBody>
          <a:bodyPr wrap="square" lIns="0" rIns="0" tIns="0" bIns="0" anchor="t">
            <a:spAutoFit/>
          </a:bodyPr>
          <a:lstStyle/>
          <a:p>
            <a:pPr algn="l">
              <a:lnSpc>
                <a:spcPts val="1187"/>
              </a:lnSpc>
            </a:pPr>
            <a:r>
              <a:rPr sz="950" spc="140">
                <a:solidFill>
                  <a:srgbClr val="2FB573"/>
                </a:solidFill>
                <a:latin typeface="Segoe UI Semibold"/>
              </a:rPr>
              <a:t>MYCAMPUSVIEW</a:t>
            </a:r>
          </a:p>
        </p:txBody>
      </p:sp>
      <p:sp>
        <p:nvSpPr>
          <p:cNvPr id="19" name="Rectangle 18"/>
          <p:cNvSpPr/>
          <p:nvPr/>
        </p:nvSpPr>
        <p:spPr>
          <a:xfrm>
            <a:off x="8705088" y="1687004"/>
            <a:ext cx="2962656"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05088" y="1943036"/>
            <a:ext cx="2962656" cy="409448"/>
          </a:xfrm>
          <a:prstGeom prst="rect">
            <a:avLst/>
          </a:prstGeom>
          <a:noFill/>
        </p:spPr>
        <p:txBody>
          <a:bodyPr wrap="square" lIns="0" rIns="0" tIns="0" bIns="0" anchor="t">
            <a:spAutoFit/>
          </a:bodyPr>
          <a:lstStyle/>
          <a:p>
            <a:pPr algn="l">
              <a:lnSpc>
                <a:spcPts val="1539"/>
              </a:lnSpc>
            </a:pPr>
            <a:r>
              <a:rPr sz="1100">
                <a:solidFill>
                  <a:srgbClr val="F6F5F2"/>
                </a:solidFill>
                <a:latin typeface="Segoe UI"/>
              </a:rPr>
              <a:t>SIS, admission CRM and school ERP on one database</a:t>
            </a:r>
          </a:p>
        </p:txBody>
      </p:sp>
      <p:sp>
        <p:nvSpPr>
          <p:cNvPr id="21" name="TextBox 20"/>
          <p:cNvSpPr txBox="1"/>
          <p:nvPr/>
        </p:nvSpPr>
        <p:spPr>
          <a:xfrm>
            <a:off x="8705088" y="2581084"/>
            <a:ext cx="2962656" cy="409448"/>
          </a:xfrm>
          <a:prstGeom prst="rect">
            <a:avLst/>
          </a:prstGeom>
          <a:noFill/>
        </p:spPr>
        <p:txBody>
          <a:bodyPr wrap="square" lIns="0" rIns="0" tIns="0" bIns="0" anchor="t">
            <a:spAutoFit/>
          </a:bodyPr>
          <a:lstStyle/>
          <a:p>
            <a:pPr algn="l">
              <a:lnSpc>
                <a:spcPts val="1539"/>
              </a:lnSpc>
            </a:pPr>
            <a:r>
              <a:rPr sz="1100">
                <a:solidFill>
                  <a:srgbClr val="F6F5F2"/>
                </a:solidFill>
                <a:latin typeface="Segoe UI"/>
              </a:rPr>
              <a:t>One student record; every module reads it rather than copying it</a:t>
            </a:r>
          </a:p>
        </p:txBody>
      </p:sp>
      <p:sp>
        <p:nvSpPr>
          <p:cNvPr id="22" name="TextBox 21"/>
          <p:cNvSpPr txBox="1"/>
          <p:nvPr/>
        </p:nvSpPr>
        <p:spPr>
          <a:xfrm>
            <a:off x="8705088" y="3219132"/>
            <a:ext cx="2962656" cy="409448"/>
          </a:xfrm>
          <a:prstGeom prst="rect">
            <a:avLst/>
          </a:prstGeom>
          <a:noFill/>
        </p:spPr>
        <p:txBody>
          <a:bodyPr wrap="square" lIns="0" rIns="0" tIns="0" bIns="0" anchor="t">
            <a:spAutoFit/>
          </a:bodyPr>
          <a:lstStyle/>
          <a:p>
            <a:pPr algn="l">
              <a:lnSpc>
                <a:spcPts val="1539"/>
              </a:lnSpc>
            </a:pPr>
            <a:r>
              <a:rPr sz="1100">
                <a:solidFill>
                  <a:srgbClr val="F6F5F2"/>
                </a:solidFill>
                <a:latin typeface="Segoe UI"/>
              </a:rPr>
              <a:t>A child admitted this morning is on this afternoon's register</a:t>
            </a:r>
          </a:p>
        </p:txBody>
      </p:sp>
      <p:sp>
        <p:nvSpPr>
          <p:cNvPr id="23" name="TextBox 22"/>
          <p:cNvSpPr txBox="1"/>
          <p:nvPr/>
        </p:nvSpPr>
        <p:spPr>
          <a:xfrm>
            <a:off x="8705088" y="3857180"/>
            <a:ext cx="2962656" cy="409448"/>
          </a:xfrm>
          <a:prstGeom prst="rect">
            <a:avLst/>
          </a:prstGeom>
          <a:noFill/>
        </p:spPr>
        <p:txBody>
          <a:bodyPr wrap="square" lIns="0" rIns="0" tIns="0" bIns="0" anchor="t">
            <a:spAutoFit/>
          </a:bodyPr>
          <a:lstStyle/>
          <a:p>
            <a:pPr algn="l">
              <a:lnSpc>
                <a:spcPts val="1539"/>
              </a:lnSpc>
            </a:pPr>
            <a:r>
              <a:rPr sz="1100">
                <a:solidFill>
                  <a:srgbClr val="F6F5F2"/>
                </a:solidFill>
                <a:latin typeface="Segoe UI"/>
              </a:rPr>
              <a:t>A payment taken at 11:04 changes the outstanding figure at 11:04</a:t>
            </a:r>
          </a:p>
        </p:txBody>
      </p:sp>
      <p:sp>
        <p:nvSpPr>
          <p:cNvPr id="24" name="TextBox 23"/>
          <p:cNvSpPr txBox="1"/>
          <p:nvPr/>
        </p:nvSpPr>
        <p:spPr>
          <a:xfrm>
            <a:off x="8705088" y="4495228"/>
            <a:ext cx="2962656" cy="409448"/>
          </a:xfrm>
          <a:prstGeom prst="rect">
            <a:avLst/>
          </a:prstGeom>
          <a:noFill/>
        </p:spPr>
        <p:txBody>
          <a:bodyPr wrap="square" lIns="0" rIns="0" tIns="0" bIns="0" anchor="t">
            <a:spAutoFit/>
          </a:bodyPr>
          <a:lstStyle/>
          <a:p>
            <a:pPr algn="l">
              <a:lnSpc>
                <a:spcPts val="1539"/>
              </a:lnSpc>
            </a:pPr>
            <a:r>
              <a:rPr sz="1100">
                <a:solidFill>
                  <a:srgbClr val="F6F5F2"/>
                </a:solidFill>
                <a:latin typeface="Segoe UI"/>
              </a:rPr>
              <a:t>Strength, attendance and collection read live, as they stand</a:t>
            </a:r>
          </a:p>
        </p:txBody>
      </p:sp>
      <p:sp>
        <p:nvSpPr>
          <p:cNvPr id="25" name="TextBox 24"/>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71798F"/>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60704"/>
            <a:ext cx="6400800" cy="191643"/>
          </a:xfrm>
          <a:prstGeom prst="rect">
            <a:avLst/>
          </a:prstGeom>
          <a:noFill/>
        </p:spPr>
        <p:txBody>
          <a:bodyPr wrap="square" lIns="0" rIns="0" tIns="0" bIns="0" anchor="t">
            <a:spAutoFit/>
          </a:bodyPr>
          <a:lstStyle/>
          <a:p>
            <a:pPr algn="l">
              <a:lnSpc>
                <a:spcPts val="1365"/>
              </a:lnSpc>
            </a:pPr>
            <a:r>
              <a:rPr sz="1050" spc="180">
                <a:solidFill>
                  <a:srgbClr val="6C4BF4"/>
                </a:solidFill>
                <a:latin typeface="Segoe UI Semibold"/>
              </a:rPr>
              <a:t>THE PRODUCT</a:t>
            </a:r>
          </a:p>
        </p:txBody>
      </p:sp>
      <p:sp>
        <p:nvSpPr>
          <p:cNvPr id="5" name="TextBox 4"/>
          <p:cNvSpPr txBox="1"/>
          <p:nvPr/>
        </p:nvSpPr>
        <p:spPr>
          <a:xfrm>
            <a:off x="786384" y="1435227"/>
            <a:ext cx="4572000" cy="1540764"/>
          </a:xfrm>
          <a:prstGeom prst="rect">
            <a:avLst/>
          </a:prstGeom>
          <a:noFill/>
        </p:spPr>
        <p:txBody>
          <a:bodyPr wrap="square" lIns="0" rIns="0" tIns="0" bIns="0" anchor="t">
            <a:spAutoFit/>
          </a:bodyPr>
          <a:lstStyle/>
          <a:p>
            <a:pPr algn="l">
              <a:lnSpc>
                <a:spcPts val="3996"/>
              </a:lnSpc>
            </a:pPr>
            <a:r>
              <a:rPr sz="3700">
                <a:solidFill>
                  <a:srgbClr val="0A1024"/>
                </a:solidFill>
                <a:latin typeface="Segoe UI Semibold"/>
              </a:rPr>
              <a:t>One database,</a:t>
            </a:r>
          </a:p>
          <a:p>
            <a:pPr algn="l">
              <a:lnSpc>
                <a:spcPts val="3996"/>
              </a:lnSpc>
            </a:pPr>
            <a:r>
              <a:rPr sz="3700">
                <a:solidFill>
                  <a:srgbClr val="0A1024"/>
                </a:solidFill>
                <a:latin typeface="Segoe UI Semibold"/>
              </a:rPr>
              <a:t>not seven integrations.</a:t>
            </a:r>
          </a:p>
        </p:txBody>
      </p:sp>
      <p:sp>
        <p:nvSpPr>
          <p:cNvPr id="6" name="TextBox 5"/>
          <p:cNvSpPr txBox="1"/>
          <p:nvPr/>
        </p:nvSpPr>
        <p:spPr>
          <a:xfrm>
            <a:off x="786384" y="3250311"/>
            <a:ext cx="4389120" cy="970788"/>
          </a:xfrm>
          <a:prstGeom prst="rect">
            <a:avLst/>
          </a:prstGeom>
          <a:noFill/>
        </p:spPr>
        <p:txBody>
          <a:bodyPr wrap="square" lIns="0" rIns="0" tIns="0" bIns="0" anchor="t">
            <a:spAutoFit/>
          </a:bodyPr>
          <a:lstStyle/>
          <a:p>
            <a:pPr algn="l">
              <a:lnSpc>
                <a:spcPts val="1875"/>
              </a:lnSpc>
            </a:pPr>
            <a:r>
              <a:rPr sz="1250">
                <a:solidFill>
                  <a:srgbClr val="535B6E"/>
                </a:solidFill>
                <a:latin typeface="Segoe UI"/>
              </a:rPr>
              <a:t>MyCampusView is one application over one database that runs the whole school. The record admissions creates is the record fees invoices, the register marks, and the report card is built from.</a:t>
            </a:r>
          </a:p>
        </p:txBody>
      </p:sp>
      <p:sp>
        <p:nvSpPr>
          <p:cNvPr id="7" name="Rectangle 6"/>
          <p:cNvSpPr/>
          <p:nvPr/>
        </p:nvSpPr>
        <p:spPr>
          <a:xfrm>
            <a:off x="786384" y="4846320"/>
            <a:ext cx="438912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065776"/>
            <a:ext cx="4389120" cy="602361"/>
          </a:xfrm>
          <a:prstGeom prst="rect">
            <a:avLst/>
          </a:prstGeom>
          <a:noFill/>
        </p:spPr>
        <p:txBody>
          <a:bodyPr wrap="square" lIns="0" rIns="0" tIns="0" bIns="0" anchor="t">
            <a:spAutoFit/>
          </a:bodyPr>
          <a:lstStyle/>
          <a:p>
            <a:pPr algn="l">
              <a:lnSpc>
                <a:spcPts val="1533"/>
              </a:lnSpc>
            </a:pPr>
            <a:r>
              <a:rPr sz="1050">
                <a:solidFill>
                  <a:srgbClr val="535B6E"/>
                </a:solidFill>
                <a:latin typeface="Segoe UI"/>
              </a:rPr>
              <a:t>Everyone signs into the same system and gets a different application. A parent reaches their own children. A teacher marks their own classes. An accountant sees the fee ledger and not the medical notes.</a:t>
            </a:r>
          </a:p>
        </p:txBody>
      </p:sp>
      <p:sp>
        <p:nvSpPr>
          <p:cNvPr id="9" name="Rounded Rectangle 8"/>
          <p:cNvSpPr/>
          <p:nvPr/>
        </p:nvSpPr>
        <p:spPr>
          <a:xfrm>
            <a:off x="6272784" y="1078992"/>
            <a:ext cx="5132527" cy="1456181"/>
          </a:xfrm>
          <a:prstGeom prst="roundRect">
            <a:avLst>
              <a:gd name="adj" fmla="val 5500"/>
            </a:avLst>
          </a:prstGeom>
          <a:solidFill>
            <a:srgbClr val="FFFFFF"/>
          </a:solidFill>
          <a:ln w="9525">
            <a:solidFill>
              <a:srgbClr val="DFE3EC"/>
            </a:solidFill>
          </a:ln>
          <a:effectLst>
            <a:outerShdw blurRad="279400" dist="88900" dir="5400000" rotWithShape="0">
              <a:srgbClr val="0A1024">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65392" y="1389888"/>
            <a:ext cx="585216" cy="283464"/>
          </a:xfrm>
          <a:prstGeom prst="roundRect">
            <a:avLst>
              <a:gd name="adj" fmla="val 50000"/>
            </a:avLst>
          </a:prstGeom>
          <a:solidFill>
            <a:srgbClr val="4EA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2" y="1440180"/>
            <a:ext cx="585216" cy="172593"/>
          </a:xfrm>
          <a:prstGeom prst="rect">
            <a:avLst/>
          </a:prstGeom>
          <a:noFill/>
        </p:spPr>
        <p:txBody>
          <a:bodyPr wrap="square" lIns="0" rIns="0" tIns="0" bIns="0" anchor="t">
            <a:spAutoFit/>
          </a:bodyPr>
          <a:lstStyle/>
          <a:p>
            <a:pPr algn="ctr">
              <a:lnSpc>
                <a:spcPts val="1215"/>
              </a:lnSpc>
            </a:pPr>
            <a:r>
              <a:rPr sz="900" spc="80">
                <a:solidFill>
                  <a:srgbClr val="FFFFFF"/>
                </a:solidFill>
                <a:latin typeface="Segoe UI Semibold"/>
              </a:rPr>
              <a:t>CRM</a:t>
            </a:r>
          </a:p>
        </p:txBody>
      </p:sp>
      <p:sp>
        <p:nvSpPr>
          <p:cNvPr id="12" name="TextBox 11"/>
          <p:cNvSpPr txBox="1"/>
          <p:nvPr/>
        </p:nvSpPr>
        <p:spPr>
          <a:xfrm>
            <a:off x="7315199" y="1362456"/>
            <a:ext cx="3760927" cy="246888"/>
          </a:xfrm>
          <a:prstGeom prst="rect">
            <a:avLst/>
          </a:prstGeom>
          <a:noFill/>
        </p:spPr>
        <p:txBody>
          <a:bodyPr wrap="square" lIns="0" rIns="0" tIns="0" bIns="0" anchor="t">
            <a:spAutoFit/>
          </a:bodyPr>
          <a:lstStyle/>
          <a:p>
            <a:pPr algn="l">
              <a:lnSpc>
                <a:spcPts val="1800"/>
              </a:lnSpc>
            </a:pPr>
            <a:r>
              <a:rPr sz="1500">
                <a:solidFill>
                  <a:srgbClr val="0A1024"/>
                </a:solidFill>
                <a:latin typeface="Segoe UI Semibold"/>
              </a:rPr>
              <a:t>Admissions &amp; enrolment</a:t>
            </a:r>
          </a:p>
        </p:txBody>
      </p:sp>
      <p:sp>
        <p:nvSpPr>
          <p:cNvPr id="13" name="TextBox 12"/>
          <p:cNvSpPr txBox="1"/>
          <p:nvPr/>
        </p:nvSpPr>
        <p:spPr>
          <a:xfrm>
            <a:off x="7315199" y="1719072"/>
            <a:ext cx="3760927" cy="578357"/>
          </a:xfrm>
          <a:prstGeom prst="rect">
            <a:avLst/>
          </a:prstGeom>
          <a:noFill/>
        </p:spPr>
        <p:txBody>
          <a:bodyPr wrap="square" lIns="0" rIns="0" tIns="0" bIns="0" anchor="t">
            <a:spAutoFit/>
          </a:bodyPr>
          <a:lstStyle/>
          <a:p>
            <a:pPr algn="l">
              <a:lnSpc>
                <a:spcPts val="1470"/>
              </a:lnSpc>
            </a:pPr>
            <a:r>
              <a:rPr sz="1050">
                <a:solidFill>
                  <a:srgbClr val="535B6E"/>
                </a:solidFill>
                <a:latin typeface="Segoe UI"/>
              </a:rPr>
              <a:t>Enquiries land on the system rather than in a counsellor's notebook, and an admitted child becomes a student record without being typed a second time.</a:t>
            </a:r>
          </a:p>
        </p:txBody>
      </p:sp>
      <p:sp>
        <p:nvSpPr>
          <p:cNvPr id="14" name="Rounded Rectangle 13"/>
          <p:cNvSpPr/>
          <p:nvPr/>
        </p:nvSpPr>
        <p:spPr>
          <a:xfrm>
            <a:off x="6272784" y="2809493"/>
            <a:ext cx="5132527" cy="1456181"/>
          </a:xfrm>
          <a:prstGeom prst="roundRect">
            <a:avLst>
              <a:gd name="adj" fmla="val 5500"/>
            </a:avLst>
          </a:prstGeom>
          <a:solidFill>
            <a:srgbClr val="FFFFFF"/>
          </a:solidFill>
          <a:ln w="9525">
            <a:solidFill>
              <a:srgbClr val="DFE3EC"/>
            </a:solidFill>
          </a:ln>
          <a:effectLst>
            <a:outerShdw blurRad="279400" dist="88900" dir="5400000" rotWithShape="0">
              <a:srgbClr val="0A1024">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5392" y="3120389"/>
            <a:ext cx="585216" cy="283464"/>
          </a:xfrm>
          <a:prstGeom prst="roundRect">
            <a:avLst>
              <a:gd name="adj" fmla="val 50000"/>
            </a:avLst>
          </a:prstGeom>
          <a:solidFill>
            <a:srgbClr val="EF5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65392" y="3170681"/>
            <a:ext cx="585216" cy="172593"/>
          </a:xfrm>
          <a:prstGeom prst="rect">
            <a:avLst/>
          </a:prstGeom>
          <a:noFill/>
        </p:spPr>
        <p:txBody>
          <a:bodyPr wrap="square" lIns="0" rIns="0" tIns="0" bIns="0" anchor="t">
            <a:spAutoFit/>
          </a:bodyPr>
          <a:lstStyle/>
          <a:p>
            <a:pPr algn="ctr">
              <a:lnSpc>
                <a:spcPts val="1215"/>
              </a:lnSpc>
            </a:pPr>
            <a:r>
              <a:rPr sz="900" spc="80">
                <a:solidFill>
                  <a:srgbClr val="FFFFFF"/>
                </a:solidFill>
                <a:latin typeface="Segoe UI Semibold"/>
              </a:rPr>
              <a:t>SIS</a:t>
            </a:r>
          </a:p>
        </p:txBody>
      </p:sp>
      <p:sp>
        <p:nvSpPr>
          <p:cNvPr id="17" name="TextBox 16"/>
          <p:cNvSpPr txBox="1"/>
          <p:nvPr/>
        </p:nvSpPr>
        <p:spPr>
          <a:xfrm>
            <a:off x="7315199" y="3092957"/>
            <a:ext cx="3760927" cy="246888"/>
          </a:xfrm>
          <a:prstGeom prst="rect">
            <a:avLst/>
          </a:prstGeom>
          <a:noFill/>
        </p:spPr>
        <p:txBody>
          <a:bodyPr wrap="square" lIns="0" rIns="0" tIns="0" bIns="0" anchor="t">
            <a:spAutoFit/>
          </a:bodyPr>
          <a:lstStyle/>
          <a:p>
            <a:pPr algn="l">
              <a:lnSpc>
                <a:spcPts val="1800"/>
              </a:lnSpc>
            </a:pPr>
            <a:r>
              <a:rPr sz="1500">
                <a:solidFill>
                  <a:srgbClr val="0A1024"/>
                </a:solidFill>
                <a:latin typeface="Segoe UI Semibold"/>
              </a:rPr>
              <a:t>Student Information System</a:t>
            </a:r>
          </a:p>
        </p:txBody>
      </p:sp>
      <p:sp>
        <p:nvSpPr>
          <p:cNvPr id="18" name="TextBox 17"/>
          <p:cNvSpPr txBox="1"/>
          <p:nvPr/>
        </p:nvSpPr>
        <p:spPr>
          <a:xfrm>
            <a:off x="7315199" y="3449573"/>
            <a:ext cx="3760927" cy="578357"/>
          </a:xfrm>
          <a:prstGeom prst="rect">
            <a:avLst/>
          </a:prstGeom>
          <a:noFill/>
        </p:spPr>
        <p:txBody>
          <a:bodyPr wrap="square" lIns="0" rIns="0" tIns="0" bIns="0" anchor="t">
            <a:spAutoFit/>
          </a:bodyPr>
          <a:lstStyle/>
          <a:p>
            <a:pPr algn="l">
              <a:lnSpc>
                <a:spcPts val="1470"/>
              </a:lnSpc>
            </a:pPr>
            <a:r>
              <a:rPr sz="1050">
                <a:solidFill>
                  <a:srgbClr val="535B6E"/>
                </a:solidFill>
                <a:latin typeface="Segoe UI"/>
              </a:rPr>
              <a:t>One record per student, holding what the school knows about them — and the record every other module reads rather than keeping its own copy of.</a:t>
            </a:r>
          </a:p>
        </p:txBody>
      </p:sp>
      <p:sp>
        <p:nvSpPr>
          <p:cNvPr id="19" name="Rounded Rectangle 18"/>
          <p:cNvSpPr/>
          <p:nvPr/>
        </p:nvSpPr>
        <p:spPr>
          <a:xfrm>
            <a:off x="6272784" y="4539994"/>
            <a:ext cx="5132527" cy="1456181"/>
          </a:xfrm>
          <a:prstGeom prst="roundRect">
            <a:avLst>
              <a:gd name="adj" fmla="val 5500"/>
            </a:avLst>
          </a:prstGeom>
          <a:solidFill>
            <a:srgbClr val="FFFFFF"/>
          </a:solidFill>
          <a:ln w="9525">
            <a:solidFill>
              <a:srgbClr val="DFE3EC"/>
            </a:solidFill>
          </a:ln>
          <a:effectLst>
            <a:outerShdw blurRad="279400" dist="88900" dir="5400000" rotWithShape="0">
              <a:srgbClr val="0A1024">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5392" y="4850890"/>
            <a:ext cx="585216" cy="283464"/>
          </a:xfrm>
          <a:prstGeom prst="roundRect">
            <a:avLst>
              <a:gd name="adj" fmla="val 50000"/>
            </a:avLst>
          </a:prstGeom>
          <a:solidFill>
            <a:srgbClr val="F0A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4901182"/>
            <a:ext cx="585216" cy="172593"/>
          </a:xfrm>
          <a:prstGeom prst="rect">
            <a:avLst/>
          </a:prstGeom>
          <a:noFill/>
        </p:spPr>
        <p:txBody>
          <a:bodyPr wrap="square" lIns="0" rIns="0" tIns="0" bIns="0" anchor="t">
            <a:spAutoFit/>
          </a:bodyPr>
          <a:lstStyle/>
          <a:p>
            <a:pPr algn="ctr">
              <a:lnSpc>
                <a:spcPts val="1215"/>
              </a:lnSpc>
            </a:pPr>
            <a:r>
              <a:rPr sz="900" spc="80">
                <a:solidFill>
                  <a:srgbClr val="0A1024"/>
                </a:solidFill>
                <a:latin typeface="Segoe UI Semibold"/>
              </a:rPr>
              <a:t>ERP</a:t>
            </a:r>
          </a:p>
        </p:txBody>
      </p:sp>
      <p:sp>
        <p:nvSpPr>
          <p:cNvPr id="22" name="TextBox 21"/>
          <p:cNvSpPr txBox="1"/>
          <p:nvPr/>
        </p:nvSpPr>
        <p:spPr>
          <a:xfrm>
            <a:off x="7315199" y="4823458"/>
            <a:ext cx="3760927" cy="246888"/>
          </a:xfrm>
          <a:prstGeom prst="rect">
            <a:avLst/>
          </a:prstGeom>
          <a:noFill/>
        </p:spPr>
        <p:txBody>
          <a:bodyPr wrap="square" lIns="0" rIns="0" tIns="0" bIns="0" anchor="t">
            <a:spAutoFit/>
          </a:bodyPr>
          <a:lstStyle/>
          <a:p>
            <a:pPr algn="l">
              <a:lnSpc>
                <a:spcPts val="1800"/>
              </a:lnSpc>
            </a:pPr>
            <a:r>
              <a:rPr sz="1500">
                <a:solidFill>
                  <a:srgbClr val="0A1024"/>
                </a:solidFill>
                <a:latin typeface="Segoe UI Semibold"/>
              </a:rPr>
              <a:t>School operations</a:t>
            </a:r>
          </a:p>
        </p:txBody>
      </p:sp>
      <p:sp>
        <p:nvSpPr>
          <p:cNvPr id="23" name="TextBox 22"/>
          <p:cNvSpPr txBox="1"/>
          <p:nvPr/>
        </p:nvSpPr>
        <p:spPr>
          <a:xfrm>
            <a:off x="7315199" y="5180074"/>
            <a:ext cx="3760927" cy="578357"/>
          </a:xfrm>
          <a:prstGeom prst="rect">
            <a:avLst/>
          </a:prstGeom>
          <a:noFill/>
        </p:spPr>
        <p:txBody>
          <a:bodyPr wrap="square" lIns="0" rIns="0" tIns="0" bIns="0" anchor="t">
            <a:spAutoFit/>
          </a:bodyPr>
          <a:lstStyle/>
          <a:p>
            <a:pPr algn="l">
              <a:lnSpc>
                <a:spcPts val="1470"/>
              </a:lnSpc>
            </a:pPr>
            <a:r>
              <a:rPr sz="1050">
                <a:solidFill>
                  <a:srgbClr val="535B6E"/>
                </a:solidFill>
                <a:latin typeface="Segoe UI"/>
              </a:rPr>
              <a:t>Fees defined once and collected at the counter, staff and leave, transport with live tracking, and a dashboard that reads today's figures.</a:t>
            </a:r>
          </a:p>
        </p:txBody>
      </p:sp>
      <p:sp>
        <p:nvSpPr>
          <p:cNvPr id="24" name="TextBox 23"/>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60704"/>
            <a:ext cx="6400800" cy="191643"/>
          </a:xfrm>
          <a:prstGeom prst="rect">
            <a:avLst/>
          </a:prstGeom>
          <a:noFill/>
        </p:spPr>
        <p:txBody>
          <a:bodyPr wrap="square" lIns="0" rIns="0" tIns="0" bIns="0" anchor="t">
            <a:spAutoFit/>
          </a:bodyPr>
          <a:lstStyle/>
          <a:p>
            <a:pPr algn="l">
              <a:lnSpc>
                <a:spcPts val="1365"/>
              </a:lnSpc>
            </a:pPr>
            <a:r>
              <a:rPr sz="1050" spc="180">
                <a:solidFill>
                  <a:srgbClr val="2FB573"/>
                </a:solidFill>
                <a:latin typeface="Segoe UI Semibold"/>
              </a:rPr>
              <a:t>WHAT YOU GET</a:t>
            </a:r>
          </a:p>
        </p:txBody>
      </p:sp>
      <p:sp>
        <p:nvSpPr>
          <p:cNvPr id="5" name="TextBox 4"/>
          <p:cNvSpPr txBox="1"/>
          <p:nvPr/>
        </p:nvSpPr>
        <p:spPr>
          <a:xfrm>
            <a:off x="786384" y="1435227"/>
            <a:ext cx="5852160" cy="1376172"/>
          </a:xfrm>
          <a:prstGeom prst="rect">
            <a:avLst/>
          </a:prstGeom>
          <a:noFill/>
        </p:spPr>
        <p:txBody>
          <a:bodyPr wrap="square" lIns="0" rIns="0" tIns="0" bIns="0" anchor="t">
            <a:spAutoFit/>
          </a:bodyPr>
          <a:lstStyle/>
          <a:p>
            <a:pPr algn="l">
              <a:lnSpc>
                <a:spcPts val="3564"/>
              </a:lnSpc>
            </a:pPr>
            <a:r>
              <a:rPr sz="3300">
                <a:solidFill>
                  <a:srgbClr val="0A1024"/>
                </a:solidFill>
                <a:latin typeface="Segoe UI Semibold"/>
              </a:rPr>
              <a:t>Complete campus visibility.</a:t>
            </a:r>
          </a:p>
          <a:p>
            <a:pPr algn="l">
              <a:lnSpc>
                <a:spcPts val="3564"/>
              </a:lnSpc>
            </a:pPr>
            <a:r>
              <a:rPr sz="3300">
                <a:solidFill>
                  <a:srgbClr val="0A1024"/>
                </a:solidFill>
                <a:latin typeface="Segoe UI Semibold"/>
              </a:rPr>
              <a:t>And the control that comes with it.</a:t>
            </a:r>
          </a:p>
        </p:txBody>
      </p:sp>
      <p:sp>
        <p:nvSpPr>
          <p:cNvPr id="6" name="TextBox 5"/>
          <p:cNvSpPr txBox="1"/>
          <p:nvPr/>
        </p:nvSpPr>
        <p:spPr>
          <a:xfrm>
            <a:off x="786384" y="3049143"/>
            <a:ext cx="4754880" cy="494538"/>
          </a:xfrm>
          <a:prstGeom prst="rect">
            <a:avLst/>
          </a:prstGeom>
          <a:noFill/>
        </p:spPr>
        <p:txBody>
          <a:bodyPr wrap="square" lIns="0" rIns="0" tIns="0" bIns="0" anchor="t">
            <a:spAutoFit/>
          </a:bodyPr>
          <a:lstStyle/>
          <a:p>
            <a:pPr algn="l">
              <a:lnSpc>
                <a:spcPts val="1875"/>
              </a:lnSpc>
            </a:pPr>
            <a:r>
              <a:rPr sz="1250">
                <a:solidFill>
                  <a:srgbClr val="535B6E"/>
                </a:solidFill>
                <a:latin typeface="Segoe UI"/>
              </a:rPr>
              <a:t>Not a dashboard bolted onto a filing system. The figures are the records, read at the moment you ask for them.</a:t>
            </a:r>
          </a:p>
        </p:txBody>
      </p:sp>
      <p:sp>
        <p:nvSpPr>
          <p:cNvPr id="7" name="Oval 6"/>
          <p:cNvSpPr/>
          <p:nvPr/>
        </p:nvSpPr>
        <p:spPr>
          <a:xfrm>
            <a:off x="786384" y="3712463"/>
            <a:ext cx="1024128" cy="1024128"/>
          </a:xfrm>
          <a:prstGeom prst="ellipse">
            <a:avLst/>
          </a:prstGeom>
          <a:solidFill>
            <a:srgbClr val="4EA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032503"/>
            <a:ext cx="1024128" cy="395478"/>
          </a:xfrm>
          <a:prstGeom prst="rect">
            <a:avLst/>
          </a:prstGeom>
          <a:noFill/>
        </p:spPr>
        <p:txBody>
          <a:bodyPr wrap="square" lIns="0" rIns="0" tIns="0" bIns="0" anchor="t">
            <a:spAutoFit/>
          </a:bodyPr>
          <a:lstStyle/>
          <a:p>
            <a:pPr algn="ctr">
              <a:lnSpc>
                <a:spcPts val="2970"/>
              </a:lnSpc>
            </a:pPr>
            <a:r>
              <a:rPr sz="2200">
                <a:solidFill>
                  <a:srgbClr val="0A1024"/>
                </a:solidFill>
                <a:latin typeface="Segoe UI Semibold"/>
              </a:rPr>
              <a:t>50</a:t>
            </a:r>
          </a:p>
        </p:txBody>
      </p:sp>
      <p:sp>
        <p:nvSpPr>
          <p:cNvPr id="9" name="TextBox 8"/>
          <p:cNvSpPr txBox="1"/>
          <p:nvPr/>
        </p:nvSpPr>
        <p:spPr>
          <a:xfrm>
            <a:off x="658368" y="4919471"/>
            <a:ext cx="1280160" cy="319913"/>
          </a:xfrm>
          <a:prstGeom prst="rect">
            <a:avLst/>
          </a:prstGeom>
          <a:noFill/>
        </p:spPr>
        <p:txBody>
          <a:bodyPr wrap="square" lIns="0" rIns="0" tIns="0" bIns="0" anchor="t">
            <a:spAutoFit/>
          </a:bodyPr>
          <a:lstStyle/>
          <a:p>
            <a:pPr algn="ctr">
              <a:lnSpc>
                <a:spcPts val="1187"/>
              </a:lnSpc>
            </a:pPr>
            <a:r>
              <a:rPr sz="950">
                <a:solidFill>
                  <a:srgbClr val="0A1024"/>
                </a:solidFill>
                <a:latin typeface="Segoe UI Semibold"/>
              </a:rPr>
              <a:t>Modules available today</a:t>
            </a:r>
          </a:p>
        </p:txBody>
      </p:sp>
      <p:sp>
        <p:nvSpPr>
          <p:cNvPr id="10" name="TextBox 9"/>
          <p:cNvSpPr txBox="1"/>
          <p:nvPr/>
        </p:nvSpPr>
        <p:spPr>
          <a:xfrm>
            <a:off x="621792" y="5275960"/>
            <a:ext cx="1353312" cy="286512"/>
          </a:xfrm>
          <a:prstGeom prst="rect">
            <a:avLst/>
          </a:prstGeom>
          <a:noFill/>
        </p:spPr>
        <p:txBody>
          <a:bodyPr wrap="square" lIns="0" rIns="0" tIns="0" bIns="0" anchor="t">
            <a:spAutoFit/>
          </a:bodyPr>
          <a:lstStyle/>
          <a:p>
            <a:pPr algn="ctr">
              <a:lnSpc>
                <a:spcPts val="1056"/>
              </a:lnSpc>
            </a:pPr>
            <a:r>
              <a:rPr sz="800">
                <a:solidFill>
                  <a:srgbClr val="535B6E"/>
                </a:solidFill>
                <a:latin typeface="Segoe UI"/>
              </a:rPr>
              <a:t>3 more in build, 8 planned — each labelled as such.</a:t>
            </a:r>
          </a:p>
        </p:txBody>
      </p:sp>
      <p:sp>
        <p:nvSpPr>
          <p:cNvPr id="11" name="Oval 10"/>
          <p:cNvSpPr/>
          <p:nvPr/>
        </p:nvSpPr>
        <p:spPr>
          <a:xfrm>
            <a:off x="2212848" y="3712463"/>
            <a:ext cx="1024128" cy="1024128"/>
          </a:xfrm>
          <a:prstGeom prst="ellipse">
            <a:avLst/>
          </a:prstGeom>
          <a:solidFill>
            <a:srgbClr val="EF5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12848" y="4032503"/>
            <a:ext cx="1024128" cy="395478"/>
          </a:xfrm>
          <a:prstGeom prst="rect">
            <a:avLst/>
          </a:prstGeom>
          <a:noFill/>
        </p:spPr>
        <p:txBody>
          <a:bodyPr wrap="square" lIns="0" rIns="0" tIns="0" bIns="0" anchor="t">
            <a:spAutoFit/>
          </a:bodyPr>
          <a:lstStyle/>
          <a:p>
            <a:pPr algn="ctr">
              <a:lnSpc>
                <a:spcPts val="2970"/>
              </a:lnSpc>
            </a:pPr>
            <a:r>
              <a:rPr sz="2200">
                <a:solidFill>
                  <a:srgbClr val="0A1024"/>
                </a:solidFill>
                <a:latin typeface="Segoe UI Semibold"/>
              </a:rPr>
              <a:t>1</a:t>
            </a:r>
          </a:p>
        </p:txBody>
      </p:sp>
      <p:sp>
        <p:nvSpPr>
          <p:cNvPr id="13" name="TextBox 12"/>
          <p:cNvSpPr txBox="1"/>
          <p:nvPr/>
        </p:nvSpPr>
        <p:spPr>
          <a:xfrm>
            <a:off x="2084832" y="4919471"/>
            <a:ext cx="1280160" cy="319913"/>
          </a:xfrm>
          <a:prstGeom prst="rect">
            <a:avLst/>
          </a:prstGeom>
          <a:noFill/>
        </p:spPr>
        <p:txBody>
          <a:bodyPr wrap="square" lIns="0" rIns="0" tIns="0" bIns="0" anchor="t">
            <a:spAutoFit/>
          </a:bodyPr>
          <a:lstStyle/>
          <a:p>
            <a:pPr algn="ctr">
              <a:lnSpc>
                <a:spcPts val="1187"/>
              </a:lnSpc>
            </a:pPr>
            <a:r>
              <a:rPr sz="950">
                <a:solidFill>
                  <a:srgbClr val="0A1024"/>
                </a:solidFill>
                <a:latin typeface="Segoe UI Semibold"/>
              </a:rPr>
              <a:t>Database behind all of them</a:t>
            </a:r>
          </a:p>
        </p:txBody>
      </p:sp>
      <p:sp>
        <p:nvSpPr>
          <p:cNvPr id="14" name="TextBox 13"/>
          <p:cNvSpPr txBox="1"/>
          <p:nvPr/>
        </p:nvSpPr>
        <p:spPr>
          <a:xfrm>
            <a:off x="2048256" y="5275960"/>
            <a:ext cx="1353312" cy="286512"/>
          </a:xfrm>
          <a:prstGeom prst="rect">
            <a:avLst/>
          </a:prstGeom>
          <a:noFill/>
        </p:spPr>
        <p:txBody>
          <a:bodyPr wrap="square" lIns="0" rIns="0" tIns="0" bIns="0" anchor="t">
            <a:spAutoFit/>
          </a:bodyPr>
          <a:lstStyle/>
          <a:p>
            <a:pPr algn="ctr">
              <a:lnSpc>
                <a:spcPts val="1056"/>
              </a:lnSpc>
            </a:pPr>
            <a:r>
              <a:rPr sz="800">
                <a:solidFill>
                  <a:srgbClr val="535B6E"/>
                </a:solidFill>
                <a:latin typeface="Segoe UI"/>
              </a:rPr>
              <a:t>A fee, an absence and a result read the same student record.</a:t>
            </a:r>
          </a:p>
        </p:txBody>
      </p:sp>
      <p:sp>
        <p:nvSpPr>
          <p:cNvPr id="15" name="Oval 14"/>
          <p:cNvSpPr/>
          <p:nvPr/>
        </p:nvSpPr>
        <p:spPr>
          <a:xfrm>
            <a:off x="3639312" y="3712463"/>
            <a:ext cx="1024128" cy="1024128"/>
          </a:xfrm>
          <a:prstGeom prst="ellipse">
            <a:avLst/>
          </a:prstGeom>
          <a:solidFill>
            <a:srgbClr val="F0A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9312" y="4032503"/>
            <a:ext cx="1024128" cy="395478"/>
          </a:xfrm>
          <a:prstGeom prst="rect">
            <a:avLst/>
          </a:prstGeom>
          <a:noFill/>
        </p:spPr>
        <p:txBody>
          <a:bodyPr wrap="square" lIns="0" rIns="0" tIns="0" bIns="0" anchor="t">
            <a:spAutoFit/>
          </a:bodyPr>
          <a:lstStyle/>
          <a:p>
            <a:pPr algn="ctr">
              <a:lnSpc>
                <a:spcPts val="2970"/>
              </a:lnSpc>
            </a:pPr>
            <a:r>
              <a:rPr sz="2200">
                <a:solidFill>
                  <a:srgbClr val="0A1024"/>
                </a:solidFill>
                <a:latin typeface="Segoe UI Semibold"/>
              </a:rPr>
              <a:t>11</a:t>
            </a:r>
          </a:p>
        </p:txBody>
      </p:sp>
      <p:sp>
        <p:nvSpPr>
          <p:cNvPr id="17" name="TextBox 16"/>
          <p:cNvSpPr txBox="1"/>
          <p:nvPr/>
        </p:nvSpPr>
        <p:spPr>
          <a:xfrm>
            <a:off x="3511296" y="4919471"/>
            <a:ext cx="1280160" cy="169100"/>
          </a:xfrm>
          <a:prstGeom prst="rect">
            <a:avLst/>
          </a:prstGeom>
          <a:noFill/>
        </p:spPr>
        <p:txBody>
          <a:bodyPr wrap="square" lIns="0" rIns="0" tIns="0" bIns="0" anchor="t">
            <a:spAutoFit/>
          </a:bodyPr>
          <a:lstStyle/>
          <a:p>
            <a:pPr algn="ctr">
              <a:lnSpc>
                <a:spcPts val="1187"/>
              </a:lnSpc>
            </a:pPr>
            <a:r>
              <a:rPr sz="950">
                <a:solidFill>
                  <a:srgbClr val="0A1024"/>
                </a:solidFill>
                <a:latin typeface="Segoe UI Semibold"/>
              </a:rPr>
              <a:t>Roles out of the box</a:t>
            </a:r>
          </a:p>
        </p:txBody>
      </p:sp>
      <p:sp>
        <p:nvSpPr>
          <p:cNvPr id="18" name="TextBox 17"/>
          <p:cNvSpPr txBox="1"/>
          <p:nvPr/>
        </p:nvSpPr>
        <p:spPr>
          <a:xfrm>
            <a:off x="3474720" y="5125147"/>
            <a:ext cx="1353312" cy="286512"/>
          </a:xfrm>
          <a:prstGeom prst="rect">
            <a:avLst/>
          </a:prstGeom>
          <a:noFill/>
        </p:spPr>
        <p:txBody>
          <a:bodyPr wrap="square" lIns="0" rIns="0" tIns="0" bIns="0" anchor="t">
            <a:spAutoFit/>
          </a:bodyPr>
          <a:lstStyle/>
          <a:p>
            <a:pPr algn="ctr">
              <a:lnSpc>
                <a:spcPts val="1056"/>
              </a:lnSpc>
            </a:pPr>
            <a:r>
              <a:rPr sz="800">
                <a:solidFill>
                  <a:srgbClr val="535B6E"/>
                </a:solidFill>
                <a:latin typeface="Segoe UI"/>
              </a:rPr>
              <a:t>Plus custom roles, permission by permission, per school.</a:t>
            </a:r>
          </a:p>
        </p:txBody>
      </p:sp>
      <p:sp>
        <p:nvSpPr>
          <p:cNvPr id="19" name="Oval 18"/>
          <p:cNvSpPr/>
          <p:nvPr/>
        </p:nvSpPr>
        <p:spPr>
          <a:xfrm>
            <a:off x="5065776" y="3712463"/>
            <a:ext cx="1024128" cy="1024128"/>
          </a:xfrm>
          <a:prstGeom prst="ellipse">
            <a:avLst/>
          </a:prstGeom>
          <a:solidFill>
            <a:srgbClr val="2FB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65776" y="4032503"/>
            <a:ext cx="1024128" cy="326898"/>
          </a:xfrm>
          <a:prstGeom prst="rect">
            <a:avLst/>
          </a:prstGeom>
          <a:noFill/>
        </p:spPr>
        <p:txBody>
          <a:bodyPr wrap="square" lIns="0" rIns="0" tIns="0" bIns="0" anchor="t">
            <a:spAutoFit/>
          </a:bodyPr>
          <a:lstStyle/>
          <a:p>
            <a:pPr algn="ctr">
              <a:lnSpc>
                <a:spcPts val="2430"/>
              </a:lnSpc>
            </a:pPr>
            <a:r>
              <a:rPr sz="1800">
                <a:solidFill>
                  <a:srgbClr val="0A1024"/>
                </a:solidFill>
                <a:latin typeface="Segoe UI Semibold"/>
              </a:rPr>
              <a:t>100%</a:t>
            </a:r>
          </a:p>
        </p:txBody>
      </p:sp>
      <p:sp>
        <p:nvSpPr>
          <p:cNvPr id="21" name="TextBox 20"/>
          <p:cNvSpPr txBox="1"/>
          <p:nvPr/>
        </p:nvSpPr>
        <p:spPr>
          <a:xfrm>
            <a:off x="4937760" y="4919471"/>
            <a:ext cx="1280160" cy="319913"/>
          </a:xfrm>
          <a:prstGeom prst="rect">
            <a:avLst/>
          </a:prstGeom>
          <a:noFill/>
        </p:spPr>
        <p:txBody>
          <a:bodyPr wrap="square" lIns="0" rIns="0" tIns="0" bIns="0" anchor="t">
            <a:spAutoFit/>
          </a:bodyPr>
          <a:lstStyle/>
          <a:p>
            <a:pPr algn="ctr">
              <a:lnSpc>
                <a:spcPts val="1187"/>
              </a:lnSpc>
            </a:pPr>
            <a:r>
              <a:rPr sz="950">
                <a:solidFill>
                  <a:srgbClr val="0A1024"/>
                </a:solidFill>
                <a:latin typeface="Segoe UI Semibold"/>
              </a:rPr>
              <a:t>Of queries scoped to one school</a:t>
            </a:r>
          </a:p>
        </p:txBody>
      </p:sp>
      <p:sp>
        <p:nvSpPr>
          <p:cNvPr id="22" name="TextBox 21"/>
          <p:cNvSpPr txBox="1"/>
          <p:nvPr/>
        </p:nvSpPr>
        <p:spPr>
          <a:xfrm>
            <a:off x="4901184" y="5275960"/>
            <a:ext cx="1353312" cy="420624"/>
          </a:xfrm>
          <a:prstGeom prst="rect">
            <a:avLst/>
          </a:prstGeom>
          <a:noFill/>
        </p:spPr>
        <p:txBody>
          <a:bodyPr wrap="square" lIns="0" rIns="0" tIns="0" bIns="0" anchor="t">
            <a:spAutoFit/>
          </a:bodyPr>
          <a:lstStyle/>
          <a:p>
            <a:pPr algn="ctr">
              <a:lnSpc>
                <a:spcPts val="1056"/>
              </a:lnSpc>
            </a:pPr>
            <a:r>
              <a:rPr sz="800">
                <a:solidFill>
                  <a:srgbClr val="535B6E"/>
                </a:solidFill>
                <a:latin typeface="Segoe UI"/>
              </a:rPr>
              <a:t>Enforced in the data layer and covered by tests that fail the build.</a:t>
            </a:r>
          </a:p>
        </p:txBody>
      </p:sp>
      <p:sp>
        <p:nvSpPr>
          <p:cNvPr id="23" name="Rounded Rectangle 22"/>
          <p:cNvSpPr/>
          <p:nvPr/>
        </p:nvSpPr>
        <p:spPr>
          <a:xfrm>
            <a:off x="6583680" y="1060704"/>
            <a:ext cx="5242255" cy="4405376"/>
          </a:xfrm>
          <a:prstGeom prst="roundRect">
            <a:avLst>
              <a:gd name="adj" fmla="val 3200"/>
            </a:avLst>
          </a:prstGeom>
          <a:solidFill>
            <a:srgbClr val="FFFFFF"/>
          </a:solidFill>
          <a:ln w="9525">
            <a:solidFill>
              <a:srgbClr val="DFE3EC"/>
            </a:solidFill>
          </a:ln>
          <a:effectLst>
            <a:outerShdw blurRad="330200" dist="101600" dir="5400000" rotWithShape="0">
              <a:srgbClr val="0A1024">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04304" y="1444752"/>
            <a:ext cx="4401007"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04304" y="1572768"/>
            <a:ext cx="4401007"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One database, not an integration</a:t>
            </a:r>
          </a:p>
        </p:txBody>
      </p:sp>
      <p:sp>
        <p:nvSpPr>
          <p:cNvPr id="26" name="TextBox 25"/>
          <p:cNvSpPr txBox="1"/>
          <p:nvPr/>
        </p:nvSpPr>
        <p:spPr>
          <a:xfrm>
            <a:off x="7004304" y="1802892"/>
            <a:ext cx="4401007" cy="363728"/>
          </a:xfrm>
          <a:prstGeom prst="rect">
            <a:avLst/>
          </a:prstGeom>
          <a:noFill/>
        </p:spPr>
        <p:txBody>
          <a:bodyPr wrap="square" lIns="0" rIns="0" tIns="0" bIns="0" anchor="t">
            <a:spAutoFit/>
          </a:bodyPr>
          <a:lstStyle/>
          <a:p>
            <a:pPr algn="l">
              <a:lnSpc>
                <a:spcPts val="1360"/>
              </a:lnSpc>
            </a:pPr>
            <a:r>
              <a:rPr sz="1000">
                <a:solidFill>
                  <a:srgbClr val="535B6E"/>
                </a:solidFill>
                <a:latin typeface="Segoe UI"/>
              </a:rPr>
              <a:t>There is no nightly sync between an SIS and an ERP, because there are not two systems.</a:t>
            </a:r>
          </a:p>
        </p:txBody>
      </p:sp>
      <p:sp>
        <p:nvSpPr>
          <p:cNvPr id="27" name="Rectangle 26"/>
          <p:cNvSpPr/>
          <p:nvPr/>
        </p:nvSpPr>
        <p:spPr>
          <a:xfrm>
            <a:off x="7004304" y="2422652"/>
            <a:ext cx="4401007"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04304" y="2550668"/>
            <a:ext cx="4401007"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Built for schools, not adapted from business software</a:t>
            </a:r>
          </a:p>
        </p:txBody>
      </p:sp>
      <p:sp>
        <p:nvSpPr>
          <p:cNvPr id="29" name="TextBox 28"/>
          <p:cNvSpPr txBox="1"/>
          <p:nvPr/>
        </p:nvSpPr>
        <p:spPr>
          <a:xfrm>
            <a:off x="7004304" y="2780792"/>
            <a:ext cx="4401007" cy="363728"/>
          </a:xfrm>
          <a:prstGeom prst="rect">
            <a:avLst/>
          </a:prstGeom>
          <a:noFill/>
        </p:spPr>
        <p:txBody>
          <a:bodyPr wrap="square" lIns="0" rIns="0" tIns="0" bIns="0" anchor="t">
            <a:spAutoFit/>
          </a:bodyPr>
          <a:lstStyle/>
          <a:p>
            <a:pPr algn="l">
              <a:lnSpc>
                <a:spcPts val="1360"/>
              </a:lnSpc>
            </a:pPr>
            <a:r>
              <a:rPr sz="1000">
                <a:solidFill>
                  <a:srgbClr val="535B6E"/>
                </a:solidFill>
                <a:latin typeface="Segoe UI"/>
              </a:rPr>
              <a:t>Academic years, sections, terms and guardians are first-class. Nothing is a repurposed customer or invoice record.</a:t>
            </a:r>
          </a:p>
        </p:txBody>
      </p:sp>
      <p:sp>
        <p:nvSpPr>
          <p:cNvPr id="30" name="Rectangle 29"/>
          <p:cNvSpPr/>
          <p:nvPr/>
        </p:nvSpPr>
        <p:spPr>
          <a:xfrm>
            <a:off x="7004304" y="3400552"/>
            <a:ext cx="4401007"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04304" y="3528568"/>
            <a:ext cx="4401007"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Reporting from live figures</a:t>
            </a:r>
          </a:p>
        </p:txBody>
      </p:sp>
      <p:sp>
        <p:nvSpPr>
          <p:cNvPr id="32" name="TextBox 31"/>
          <p:cNvSpPr txBox="1"/>
          <p:nvPr/>
        </p:nvSpPr>
        <p:spPr>
          <a:xfrm>
            <a:off x="7004304" y="3758692"/>
            <a:ext cx="4401007" cy="363728"/>
          </a:xfrm>
          <a:prstGeom prst="rect">
            <a:avLst/>
          </a:prstGeom>
          <a:noFill/>
        </p:spPr>
        <p:txBody>
          <a:bodyPr wrap="square" lIns="0" rIns="0" tIns="0" bIns="0" anchor="t">
            <a:spAutoFit/>
          </a:bodyPr>
          <a:lstStyle/>
          <a:p>
            <a:pPr algn="l">
              <a:lnSpc>
                <a:spcPts val="1360"/>
              </a:lnSpc>
            </a:pPr>
            <a:r>
              <a:rPr sz="1000">
                <a:solidFill>
                  <a:srgbClr val="535B6E"/>
                </a:solidFill>
                <a:latin typeface="Segoe UI"/>
              </a:rPr>
              <a:t>Strength, attendance, collection and outstanding are read from the records as they stand, not from an export taken last night.</a:t>
            </a:r>
          </a:p>
        </p:txBody>
      </p:sp>
      <p:sp>
        <p:nvSpPr>
          <p:cNvPr id="33" name="Rectangle 32"/>
          <p:cNvSpPr/>
          <p:nvPr/>
        </p:nvSpPr>
        <p:spPr>
          <a:xfrm>
            <a:off x="7004304" y="4378452"/>
            <a:ext cx="4401007"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04304" y="4506468"/>
            <a:ext cx="4401007" cy="198120"/>
          </a:xfrm>
          <a:prstGeom prst="rect">
            <a:avLst/>
          </a:prstGeom>
          <a:noFill/>
        </p:spPr>
        <p:txBody>
          <a:bodyPr wrap="square" lIns="0" rIns="0" tIns="0" bIns="0" anchor="t">
            <a:spAutoFit/>
          </a:bodyPr>
          <a:lstStyle/>
          <a:p>
            <a:pPr algn="l">
              <a:lnSpc>
                <a:spcPts val="1416"/>
              </a:lnSpc>
            </a:pPr>
            <a:r>
              <a:rPr sz="1200">
                <a:solidFill>
                  <a:srgbClr val="0A1024"/>
                </a:solidFill>
                <a:latin typeface="Segoe UI Semibold"/>
              </a:rPr>
              <a:t>Your own domain and branding</a:t>
            </a:r>
          </a:p>
        </p:txBody>
      </p:sp>
      <p:sp>
        <p:nvSpPr>
          <p:cNvPr id="35" name="TextBox 34"/>
          <p:cNvSpPr txBox="1"/>
          <p:nvPr/>
        </p:nvSpPr>
        <p:spPr>
          <a:xfrm>
            <a:off x="7004304" y="4736592"/>
            <a:ext cx="4401007" cy="363728"/>
          </a:xfrm>
          <a:prstGeom prst="rect">
            <a:avLst/>
          </a:prstGeom>
          <a:noFill/>
        </p:spPr>
        <p:txBody>
          <a:bodyPr wrap="square" lIns="0" rIns="0" tIns="0" bIns="0" anchor="t">
            <a:spAutoFit/>
          </a:bodyPr>
          <a:lstStyle/>
          <a:p>
            <a:pPr algn="l">
              <a:lnSpc>
                <a:spcPts val="1360"/>
              </a:lnSpc>
            </a:pPr>
            <a:r>
              <a:rPr sz="1000">
                <a:solidFill>
                  <a:srgbClr val="535B6E"/>
                </a:solidFill>
                <a:latin typeface="Segoe UI"/>
              </a:rPr>
              <a:t>The application, its documents and the school website carry your name, logo and colours on a domain you own.</a:t>
            </a:r>
          </a:p>
        </p:txBody>
      </p:sp>
      <p:sp>
        <p:nvSpPr>
          <p:cNvPr id="36" name="TextBox 35"/>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gradFill rotWithShape="1">
            <a:gsLst>
              <a:gs pos="0">
                <a:srgbClr val="6C4BF4">
                  <a:alpha val="18000"/>
                </a:srgbClr>
              </a:gs>
              <a:gs pos="45000">
                <a:srgbClr val="6C4BF4">
                  <a:alpha val="6120"/>
                </a:srgbClr>
              </a:gs>
              <a:gs pos="100000">
                <a:srgbClr val="6C4BF4">
                  <a:alpha val="0"/>
                </a:srgbClr>
              </a:gs>
            </a:gsLst>
            <a:lin ang="81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ycampusview-lockup.png"/>
          <p:cNvPicPr>
            <a:picLocks noChangeAspect="1"/>
          </p:cNvPicPr>
          <p:nvPr/>
        </p:nvPicPr>
        <p:blipFill>
          <a:blip r:embed="rId2"/>
          <a:stretch>
            <a:fillRect/>
          </a:stretch>
        </p:blipFill>
        <p:spPr>
          <a:xfrm>
            <a:off x="786384" y="420624"/>
            <a:ext cx="984778" cy="173736"/>
          </a:xfrm>
          <a:prstGeom prst="rect">
            <a:avLst/>
          </a:prstGeom>
        </p:spPr>
      </p:pic>
      <p:sp>
        <p:nvSpPr>
          <p:cNvPr id="5" name="TextBox 4"/>
          <p:cNvSpPr txBox="1"/>
          <p:nvPr/>
        </p:nvSpPr>
        <p:spPr>
          <a:xfrm>
            <a:off x="786384" y="1042415"/>
            <a:ext cx="6400800" cy="191643"/>
          </a:xfrm>
          <a:prstGeom prst="rect">
            <a:avLst/>
          </a:prstGeom>
          <a:noFill/>
        </p:spPr>
        <p:txBody>
          <a:bodyPr wrap="square" lIns="0" rIns="0" tIns="0" bIns="0" anchor="t">
            <a:spAutoFit/>
          </a:bodyPr>
          <a:lstStyle/>
          <a:p>
            <a:pPr algn="l">
              <a:lnSpc>
                <a:spcPts val="1365"/>
              </a:lnSpc>
            </a:pPr>
            <a:r>
              <a:rPr sz="1050" spc="180">
                <a:solidFill>
                  <a:srgbClr val="4EA3F5"/>
                </a:solidFill>
                <a:latin typeface="Segoe UI Semibold"/>
              </a:rPr>
              <a:t>THE PLATFORM</a:t>
            </a:r>
          </a:p>
        </p:txBody>
      </p:sp>
      <p:sp>
        <p:nvSpPr>
          <p:cNvPr id="6" name="TextBox 5"/>
          <p:cNvSpPr txBox="1"/>
          <p:nvPr/>
        </p:nvSpPr>
        <p:spPr>
          <a:xfrm>
            <a:off x="786384" y="1398650"/>
            <a:ext cx="7315200" cy="484632"/>
          </a:xfrm>
          <a:prstGeom prst="rect">
            <a:avLst/>
          </a:prstGeom>
          <a:noFill/>
        </p:spPr>
        <p:txBody>
          <a:bodyPr wrap="square" lIns="0" rIns="0" tIns="0" bIns="0" anchor="t">
            <a:spAutoFit/>
          </a:bodyPr>
          <a:lstStyle/>
          <a:p>
            <a:pPr algn="l">
              <a:lnSpc>
                <a:spcPts val="3672"/>
              </a:lnSpc>
            </a:pPr>
            <a:r>
              <a:rPr sz="3400">
                <a:solidFill>
                  <a:srgbClr val="F6F5F2"/>
                </a:solidFill>
                <a:latin typeface="Segoe UI Semibold"/>
              </a:rPr>
              <a:t>Everything that is built today.</a:t>
            </a:r>
          </a:p>
        </p:txBody>
      </p:sp>
      <p:sp>
        <p:nvSpPr>
          <p:cNvPr id="7" name="TextBox 6"/>
          <p:cNvSpPr txBox="1"/>
          <p:nvPr/>
        </p:nvSpPr>
        <p:spPr>
          <a:xfrm>
            <a:off x="786384" y="2084450"/>
            <a:ext cx="6766560" cy="230060"/>
          </a:xfrm>
          <a:prstGeom prst="rect">
            <a:avLst/>
          </a:prstGeom>
          <a:noFill/>
        </p:spPr>
        <p:txBody>
          <a:bodyPr wrap="square" lIns="0" rIns="0" tIns="0" bIns="0" anchor="t">
            <a:spAutoFit/>
          </a:bodyPr>
          <a:lstStyle/>
          <a:p>
            <a:pPr algn="l">
              <a:lnSpc>
                <a:spcPts val="1667"/>
              </a:lnSpc>
            </a:pPr>
            <a:r>
              <a:rPr sz="1150">
                <a:solidFill>
                  <a:srgbClr val="ADB3C6"/>
                </a:solidFill>
                <a:latin typeface="Segoe UI"/>
              </a:rPr>
              <a:t>50 modules are available now, 3 are in build and 8 are planned. Only what works today is named here.</a:t>
            </a:r>
          </a:p>
        </p:txBody>
      </p:sp>
      <p:sp>
        <p:nvSpPr>
          <p:cNvPr id="8" name="Rectangle 7"/>
          <p:cNvSpPr/>
          <p:nvPr/>
        </p:nvSpPr>
        <p:spPr>
          <a:xfrm>
            <a:off x="786384" y="2596896"/>
            <a:ext cx="2339263" cy="22860"/>
          </a:xfrm>
          <a:prstGeom prst="rect">
            <a:avLst/>
          </a:prstGeom>
          <a:solidFill>
            <a:srgbClr val="4EA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743200"/>
            <a:ext cx="2339263" cy="169100"/>
          </a:xfrm>
          <a:prstGeom prst="rect">
            <a:avLst/>
          </a:prstGeom>
          <a:noFill/>
        </p:spPr>
        <p:txBody>
          <a:bodyPr wrap="square" lIns="0" rIns="0" tIns="0" bIns="0" anchor="t">
            <a:spAutoFit/>
          </a:bodyPr>
          <a:lstStyle/>
          <a:p>
            <a:pPr algn="l">
              <a:lnSpc>
                <a:spcPts val="1187"/>
              </a:lnSpc>
            </a:pPr>
            <a:r>
              <a:rPr sz="950" spc="130">
                <a:solidFill>
                  <a:srgbClr val="F6F5F2"/>
                </a:solidFill>
                <a:latin typeface="Segoe UI Semibold"/>
              </a:rPr>
              <a:t>ACADEMICS</a:t>
            </a:r>
          </a:p>
        </p:txBody>
      </p:sp>
      <p:sp>
        <p:nvSpPr>
          <p:cNvPr id="10" name="TextBox 9"/>
          <p:cNvSpPr txBox="1"/>
          <p:nvPr/>
        </p:nvSpPr>
        <p:spPr>
          <a:xfrm>
            <a:off x="786384" y="3022028"/>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Classes &amp; sections</a:t>
            </a:r>
          </a:p>
        </p:txBody>
      </p:sp>
      <p:sp>
        <p:nvSpPr>
          <p:cNvPr id="11" name="TextBox 10"/>
          <p:cNvSpPr txBox="1"/>
          <p:nvPr/>
        </p:nvSpPr>
        <p:spPr>
          <a:xfrm>
            <a:off x="786384" y="3207651"/>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Subjects</a:t>
            </a:r>
          </a:p>
        </p:txBody>
      </p:sp>
      <p:sp>
        <p:nvSpPr>
          <p:cNvPr id="12" name="TextBox 11"/>
          <p:cNvSpPr txBox="1"/>
          <p:nvPr/>
        </p:nvSpPr>
        <p:spPr>
          <a:xfrm>
            <a:off x="786384" y="3393274"/>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Timetable</a:t>
            </a:r>
          </a:p>
        </p:txBody>
      </p:sp>
      <p:sp>
        <p:nvSpPr>
          <p:cNvPr id="13" name="TextBox 12"/>
          <p:cNvSpPr txBox="1"/>
          <p:nvPr/>
        </p:nvSpPr>
        <p:spPr>
          <a:xfrm>
            <a:off x="786384" y="3578897"/>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Homework</a:t>
            </a:r>
          </a:p>
        </p:txBody>
      </p:sp>
      <p:sp>
        <p:nvSpPr>
          <p:cNvPr id="14" name="TextBox 13"/>
          <p:cNvSpPr txBox="1"/>
          <p:nvPr/>
        </p:nvSpPr>
        <p:spPr>
          <a:xfrm>
            <a:off x="786384" y="3764520"/>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Classwork</a:t>
            </a:r>
          </a:p>
        </p:txBody>
      </p:sp>
      <p:sp>
        <p:nvSpPr>
          <p:cNvPr id="15" name="TextBox 14"/>
          <p:cNvSpPr txBox="1"/>
          <p:nvPr/>
        </p:nvSpPr>
        <p:spPr>
          <a:xfrm>
            <a:off x="786384" y="3950143"/>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Academic calendar</a:t>
            </a:r>
          </a:p>
        </p:txBody>
      </p:sp>
      <p:sp>
        <p:nvSpPr>
          <p:cNvPr id="16" name="TextBox 15"/>
          <p:cNvSpPr txBox="1"/>
          <p:nvPr/>
        </p:nvSpPr>
        <p:spPr>
          <a:xfrm>
            <a:off x="786384" y="4135766"/>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Syllabus</a:t>
            </a:r>
          </a:p>
        </p:txBody>
      </p:sp>
      <p:sp>
        <p:nvSpPr>
          <p:cNvPr id="17" name="Rectangle 16"/>
          <p:cNvSpPr/>
          <p:nvPr/>
        </p:nvSpPr>
        <p:spPr>
          <a:xfrm>
            <a:off x="3546271" y="2596896"/>
            <a:ext cx="2339263" cy="22860"/>
          </a:xfrm>
          <a:prstGeom prst="rect">
            <a:avLst/>
          </a:prstGeom>
          <a:solidFill>
            <a:srgbClr val="EF5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46271" y="2743200"/>
            <a:ext cx="2339263" cy="169100"/>
          </a:xfrm>
          <a:prstGeom prst="rect">
            <a:avLst/>
          </a:prstGeom>
          <a:noFill/>
        </p:spPr>
        <p:txBody>
          <a:bodyPr wrap="square" lIns="0" rIns="0" tIns="0" bIns="0" anchor="t">
            <a:spAutoFit/>
          </a:bodyPr>
          <a:lstStyle/>
          <a:p>
            <a:pPr algn="l">
              <a:lnSpc>
                <a:spcPts val="1187"/>
              </a:lnSpc>
            </a:pPr>
            <a:r>
              <a:rPr sz="950" spc="130">
                <a:solidFill>
                  <a:srgbClr val="F6F5F2"/>
                </a:solidFill>
                <a:latin typeface="Segoe UI Semibold"/>
              </a:rPr>
              <a:t>EXAMINATIONS</a:t>
            </a:r>
          </a:p>
        </p:txBody>
      </p:sp>
      <p:sp>
        <p:nvSpPr>
          <p:cNvPr id="19" name="TextBox 18"/>
          <p:cNvSpPr txBox="1"/>
          <p:nvPr/>
        </p:nvSpPr>
        <p:spPr>
          <a:xfrm>
            <a:off x="3546271" y="3022028"/>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Examinations</a:t>
            </a:r>
          </a:p>
        </p:txBody>
      </p:sp>
      <p:sp>
        <p:nvSpPr>
          <p:cNvPr id="20" name="TextBox 19"/>
          <p:cNvSpPr txBox="1"/>
          <p:nvPr/>
        </p:nvSpPr>
        <p:spPr>
          <a:xfrm>
            <a:off x="3546271" y="3207651"/>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Mark entry</a:t>
            </a:r>
          </a:p>
        </p:txBody>
      </p:sp>
      <p:sp>
        <p:nvSpPr>
          <p:cNvPr id="21" name="TextBox 20"/>
          <p:cNvSpPr txBox="1"/>
          <p:nvPr/>
        </p:nvSpPr>
        <p:spPr>
          <a:xfrm>
            <a:off x="3546271" y="3393274"/>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Grading schemes</a:t>
            </a:r>
          </a:p>
        </p:txBody>
      </p:sp>
      <p:sp>
        <p:nvSpPr>
          <p:cNvPr id="22" name="TextBox 21"/>
          <p:cNvSpPr txBox="1"/>
          <p:nvPr/>
        </p:nvSpPr>
        <p:spPr>
          <a:xfrm>
            <a:off x="3546271" y="3578897"/>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Results</a:t>
            </a:r>
          </a:p>
        </p:txBody>
      </p:sp>
      <p:sp>
        <p:nvSpPr>
          <p:cNvPr id="23" name="TextBox 22"/>
          <p:cNvSpPr txBox="1"/>
          <p:nvPr/>
        </p:nvSpPr>
        <p:spPr>
          <a:xfrm>
            <a:off x="3546271" y="3764520"/>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Report cards</a:t>
            </a:r>
          </a:p>
        </p:txBody>
      </p:sp>
      <p:sp>
        <p:nvSpPr>
          <p:cNvPr id="24" name="TextBox 23"/>
          <p:cNvSpPr txBox="1"/>
          <p:nvPr/>
        </p:nvSpPr>
        <p:spPr>
          <a:xfrm>
            <a:off x="3546271" y="3950143"/>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Certificates</a:t>
            </a:r>
          </a:p>
        </p:txBody>
      </p:sp>
      <p:sp>
        <p:nvSpPr>
          <p:cNvPr id="25" name="Rectangle 24"/>
          <p:cNvSpPr/>
          <p:nvPr/>
        </p:nvSpPr>
        <p:spPr>
          <a:xfrm>
            <a:off x="6306158" y="2596896"/>
            <a:ext cx="2339263" cy="22860"/>
          </a:xfrm>
          <a:prstGeom prst="rect">
            <a:avLst/>
          </a:prstGeom>
          <a:solidFill>
            <a:srgbClr val="F0A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6158" y="2743200"/>
            <a:ext cx="2339263" cy="169100"/>
          </a:xfrm>
          <a:prstGeom prst="rect">
            <a:avLst/>
          </a:prstGeom>
          <a:noFill/>
        </p:spPr>
        <p:txBody>
          <a:bodyPr wrap="square" lIns="0" rIns="0" tIns="0" bIns="0" anchor="t">
            <a:spAutoFit/>
          </a:bodyPr>
          <a:lstStyle/>
          <a:p>
            <a:pPr algn="l">
              <a:lnSpc>
                <a:spcPts val="1187"/>
              </a:lnSpc>
            </a:pPr>
            <a:r>
              <a:rPr sz="950" spc="130">
                <a:solidFill>
                  <a:srgbClr val="F6F5F2"/>
                </a:solidFill>
                <a:latin typeface="Segoe UI Semibold"/>
              </a:rPr>
              <a:t>PEOPLE</a:t>
            </a:r>
          </a:p>
        </p:txBody>
      </p:sp>
      <p:sp>
        <p:nvSpPr>
          <p:cNvPr id="27" name="TextBox 26"/>
          <p:cNvSpPr txBox="1"/>
          <p:nvPr/>
        </p:nvSpPr>
        <p:spPr>
          <a:xfrm>
            <a:off x="6306158" y="3022028"/>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Student records</a:t>
            </a:r>
          </a:p>
        </p:txBody>
      </p:sp>
      <p:sp>
        <p:nvSpPr>
          <p:cNvPr id="28" name="TextBox 27"/>
          <p:cNvSpPr txBox="1"/>
          <p:nvPr/>
        </p:nvSpPr>
        <p:spPr>
          <a:xfrm>
            <a:off x="6306158" y="3207651"/>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Parents &amp; guardians</a:t>
            </a:r>
          </a:p>
        </p:txBody>
      </p:sp>
      <p:sp>
        <p:nvSpPr>
          <p:cNvPr id="29" name="TextBox 28"/>
          <p:cNvSpPr txBox="1"/>
          <p:nvPr/>
        </p:nvSpPr>
        <p:spPr>
          <a:xfrm>
            <a:off x="6306158" y="3393274"/>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Staff records</a:t>
            </a:r>
          </a:p>
        </p:txBody>
      </p:sp>
      <p:sp>
        <p:nvSpPr>
          <p:cNvPr id="30" name="TextBox 29"/>
          <p:cNvSpPr txBox="1"/>
          <p:nvPr/>
        </p:nvSpPr>
        <p:spPr>
          <a:xfrm>
            <a:off x="6306158" y="3578897"/>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Student attendance</a:t>
            </a:r>
          </a:p>
        </p:txBody>
      </p:sp>
      <p:sp>
        <p:nvSpPr>
          <p:cNvPr id="31" name="TextBox 30"/>
          <p:cNvSpPr txBox="1"/>
          <p:nvPr/>
        </p:nvSpPr>
        <p:spPr>
          <a:xfrm>
            <a:off x="6306158" y="3764520"/>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Attendance reports</a:t>
            </a:r>
          </a:p>
        </p:txBody>
      </p:sp>
      <p:sp>
        <p:nvSpPr>
          <p:cNvPr id="32" name="TextBox 31"/>
          <p:cNvSpPr txBox="1"/>
          <p:nvPr/>
        </p:nvSpPr>
        <p:spPr>
          <a:xfrm>
            <a:off x="6306158" y="3950143"/>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Staff attendance</a:t>
            </a:r>
          </a:p>
        </p:txBody>
      </p:sp>
      <p:sp>
        <p:nvSpPr>
          <p:cNvPr id="33" name="TextBox 32"/>
          <p:cNvSpPr txBox="1"/>
          <p:nvPr/>
        </p:nvSpPr>
        <p:spPr>
          <a:xfrm>
            <a:off x="6306158" y="4135766"/>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Leave</a:t>
            </a:r>
          </a:p>
        </p:txBody>
      </p:sp>
      <p:sp>
        <p:nvSpPr>
          <p:cNvPr id="34" name="Rectangle 33"/>
          <p:cNvSpPr/>
          <p:nvPr/>
        </p:nvSpPr>
        <p:spPr>
          <a:xfrm>
            <a:off x="9066045" y="2596896"/>
            <a:ext cx="2339263" cy="22860"/>
          </a:xfrm>
          <a:prstGeom prst="rect">
            <a:avLst/>
          </a:prstGeom>
          <a:solidFill>
            <a:srgbClr val="2FB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66045" y="2743200"/>
            <a:ext cx="2339263" cy="169100"/>
          </a:xfrm>
          <a:prstGeom prst="rect">
            <a:avLst/>
          </a:prstGeom>
          <a:noFill/>
        </p:spPr>
        <p:txBody>
          <a:bodyPr wrap="square" lIns="0" rIns="0" tIns="0" bIns="0" anchor="t">
            <a:spAutoFit/>
          </a:bodyPr>
          <a:lstStyle/>
          <a:p>
            <a:pPr algn="l">
              <a:lnSpc>
                <a:spcPts val="1187"/>
              </a:lnSpc>
            </a:pPr>
            <a:r>
              <a:rPr sz="950" spc="130">
                <a:solidFill>
                  <a:srgbClr val="F6F5F2"/>
                </a:solidFill>
                <a:latin typeface="Segoe UI Semibold"/>
              </a:rPr>
              <a:t>ADMISSIONS</a:t>
            </a:r>
          </a:p>
        </p:txBody>
      </p:sp>
      <p:sp>
        <p:nvSpPr>
          <p:cNvPr id="36" name="TextBox 35"/>
          <p:cNvSpPr txBox="1"/>
          <p:nvPr/>
        </p:nvSpPr>
        <p:spPr>
          <a:xfrm>
            <a:off x="9066045" y="3022028"/>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Enquiry capture</a:t>
            </a:r>
          </a:p>
        </p:txBody>
      </p:sp>
      <p:sp>
        <p:nvSpPr>
          <p:cNvPr id="37" name="TextBox 36"/>
          <p:cNvSpPr txBox="1"/>
          <p:nvPr/>
        </p:nvSpPr>
        <p:spPr>
          <a:xfrm>
            <a:off x="9066045" y="3207651"/>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Admission pipeline</a:t>
            </a:r>
          </a:p>
        </p:txBody>
      </p:sp>
      <p:sp>
        <p:nvSpPr>
          <p:cNvPr id="38" name="TextBox 37"/>
          <p:cNvSpPr txBox="1"/>
          <p:nvPr/>
        </p:nvSpPr>
        <p:spPr>
          <a:xfrm>
            <a:off x="9066045" y="3393274"/>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Follow-ups &amp; call logs</a:t>
            </a:r>
          </a:p>
        </p:txBody>
      </p:sp>
      <p:sp>
        <p:nvSpPr>
          <p:cNvPr id="39" name="TextBox 38"/>
          <p:cNvSpPr txBox="1"/>
          <p:nvPr/>
        </p:nvSpPr>
        <p:spPr>
          <a:xfrm>
            <a:off x="9066045" y="3578897"/>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Conversion analytics</a:t>
            </a:r>
          </a:p>
        </p:txBody>
      </p:sp>
      <p:sp>
        <p:nvSpPr>
          <p:cNvPr id="40" name="TextBox 39"/>
          <p:cNvSpPr txBox="1"/>
          <p:nvPr/>
        </p:nvSpPr>
        <p:spPr>
          <a:xfrm>
            <a:off x="9066045" y="3764520"/>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Online enquiry form</a:t>
            </a:r>
          </a:p>
        </p:txBody>
      </p:sp>
      <p:sp>
        <p:nvSpPr>
          <p:cNvPr id="41" name="TextBox 40"/>
          <p:cNvSpPr txBox="1"/>
          <p:nvPr/>
        </p:nvSpPr>
        <p:spPr>
          <a:xfrm>
            <a:off x="9066045" y="3950143"/>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Front office &amp; visitors</a:t>
            </a:r>
          </a:p>
        </p:txBody>
      </p:sp>
      <p:sp>
        <p:nvSpPr>
          <p:cNvPr id="42" name="TextBox 41"/>
          <p:cNvSpPr txBox="1"/>
          <p:nvPr/>
        </p:nvSpPr>
        <p:spPr>
          <a:xfrm>
            <a:off x="9066045" y="4135766"/>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Enrol as a student</a:t>
            </a:r>
          </a:p>
        </p:txBody>
      </p:sp>
      <p:sp>
        <p:nvSpPr>
          <p:cNvPr id="43" name="Rectangle 42"/>
          <p:cNvSpPr/>
          <p:nvPr/>
        </p:nvSpPr>
        <p:spPr>
          <a:xfrm>
            <a:off x="786384" y="4407408"/>
            <a:ext cx="2339263" cy="22860"/>
          </a:xfrm>
          <a:prstGeom prst="rect">
            <a:avLst/>
          </a:prstGeom>
          <a:solidFill>
            <a:srgbClr val="B57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 y="4553712"/>
            <a:ext cx="2339263" cy="169100"/>
          </a:xfrm>
          <a:prstGeom prst="rect">
            <a:avLst/>
          </a:prstGeom>
          <a:noFill/>
        </p:spPr>
        <p:txBody>
          <a:bodyPr wrap="square" lIns="0" rIns="0" tIns="0" bIns="0" anchor="t">
            <a:spAutoFit/>
          </a:bodyPr>
          <a:lstStyle/>
          <a:p>
            <a:pPr algn="l">
              <a:lnSpc>
                <a:spcPts val="1187"/>
              </a:lnSpc>
            </a:pPr>
            <a:r>
              <a:rPr sz="950" spc="130">
                <a:solidFill>
                  <a:srgbClr val="F6F5F2"/>
                </a:solidFill>
                <a:latin typeface="Segoe UI Semibold"/>
              </a:rPr>
              <a:t>FINANCE</a:t>
            </a:r>
          </a:p>
        </p:txBody>
      </p:sp>
      <p:sp>
        <p:nvSpPr>
          <p:cNvPr id="45" name="TextBox 44"/>
          <p:cNvSpPr txBox="1"/>
          <p:nvPr/>
        </p:nvSpPr>
        <p:spPr>
          <a:xfrm>
            <a:off x="786384" y="4832540"/>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Fee structures</a:t>
            </a:r>
          </a:p>
        </p:txBody>
      </p:sp>
      <p:sp>
        <p:nvSpPr>
          <p:cNvPr id="46" name="TextBox 45"/>
          <p:cNvSpPr txBox="1"/>
          <p:nvPr/>
        </p:nvSpPr>
        <p:spPr>
          <a:xfrm>
            <a:off x="786384" y="5018163"/>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Invoices</a:t>
            </a:r>
          </a:p>
        </p:txBody>
      </p:sp>
      <p:sp>
        <p:nvSpPr>
          <p:cNvPr id="47" name="TextBox 46"/>
          <p:cNvSpPr txBox="1"/>
          <p:nvPr/>
        </p:nvSpPr>
        <p:spPr>
          <a:xfrm>
            <a:off x="786384" y="5203786"/>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Fee collection</a:t>
            </a:r>
          </a:p>
        </p:txBody>
      </p:sp>
      <p:sp>
        <p:nvSpPr>
          <p:cNvPr id="48" name="TextBox 47"/>
          <p:cNvSpPr txBox="1"/>
          <p:nvPr/>
        </p:nvSpPr>
        <p:spPr>
          <a:xfrm>
            <a:off x="786384" y="5389409"/>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Payments ledger</a:t>
            </a:r>
          </a:p>
        </p:txBody>
      </p:sp>
      <p:sp>
        <p:nvSpPr>
          <p:cNvPr id="49" name="TextBox 48"/>
          <p:cNvSpPr txBox="1"/>
          <p:nvPr/>
        </p:nvSpPr>
        <p:spPr>
          <a:xfrm>
            <a:off x="786384" y="5575032"/>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Outstanding</a:t>
            </a:r>
          </a:p>
        </p:txBody>
      </p:sp>
      <p:sp>
        <p:nvSpPr>
          <p:cNvPr id="50" name="TextBox 49"/>
          <p:cNvSpPr txBox="1"/>
          <p:nvPr/>
        </p:nvSpPr>
        <p:spPr>
          <a:xfrm>
            <a:off x="786384" y="5760655"/>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Concessions</a:t>
            </a:r>
          </a:p>
        </p:txBody>
      </p:sp>
      <p:sp>
        <p:nvSpPr>
          <p:cNvPr id="51" name="Rectangle 50"/>
          <p:cNvSpPr/>
          <p:nvPr/>
        </p:nvSpPr>
        <p:spPr>
          <a:xfrm>
            <a:off x="3546271" y="4407408"/>
            <a:ext cx="2339263" cy="22860"/>
          </a:xfrm>
          <a:prstGeom prst="rect">
            <a:avLst/>
          </a:prstGeom>
          <a:solidFill>
            <a:srgbClr val="4EA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546271" y="4553712"/>
            <a:ext cx="2339263" cy="169100"/>
          </a:xfrm>
          <a:prstGeom prst="rect">
            <a:avLst/>
          </a:prstGeom>
          <a:noFill/>
        </p:spPr>
        <p:txBody>
          <a:bodyPr wrap="square" lIns="0" rIns="0" tIns="0" bIns="0" anchor="t">
            <a:spAutoFit/>
          </a:bodyPr>
          <a:lstStyle/>
          <a:p>
            <a:pPr algn="l">
              <a:lnSpc>
                <a:spcPts val="1187"/>
              </a:lnSpc>
            </a:pPr>
            <a:r>
              <a:rPr sz="950" spc="130">
                <a:solidFill>
                  <a:srgbClr val="F6F5F2"/>
                </a:solidFill>
                <a:latin typeface="Segoe UI Semibold"/>
              </a:rPr>
              <a:t>COMMUNICATION</a:t>
            </a:r>
          </a:p>
        </p:txBody>
      </p:sp>
      <p:sp>
        <p:nvSpPr>
          <p:cNvPr id="53" name="TextBox 52"/>
          <p:cNvSpPr txBox="1"/>
          <p:nvPr/>
        </p:nvSpPr>
        <p:spPr>
          <a:xfrm>
            <a:off x="3546271" y="4832540"/>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Notices</a:t>
            </a:r>
          </a:p>
        </p:txBody>
      </p:sp>
      <p:sp>
        <p:nvSpPr>
          <p:cNvPr id="54" name="TextBox 53"/>
          <p:cNvSpPr txBox="1"/>
          <p:nvPr/>
        </p:nvSpPr>
        <p:spPr>
          <a:xfrm>
            <a:off x="3546271" y="5018163"/>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Messages</a:t>
            </a:r>
          </a:p>
        </p:txBody>
      </p:sp>
      <p:sp>
        <p:nvSpPr>
          <p:cNvPr id="55" name="TextBox 54"/>
          <p:cNvSpPr txBox="1"/>
          <p:nvPr/>
        </p:nvSpPr>
        <p:spPr>
          <a:xfrm>
            <a:off x="3546271" y="5203786"/>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Email delivery</a:t>
            </a:r>
          </a:p>
        </p:txBody>
      </p:sp>
      <p:sp>
        <p:nvSpPr>
          <p:cNvPr id="56" name="TextBox 55"/>
          <p:cNvSpPr txBox="1"/>
          <p:nvPr/>
        </p:nvSpPr>
        <p:spPr>
          <a:xfrm>
            <a:off x="3546271" y="5389409"/>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Message templates</a:t>
            </a:r>
          </a:p>
        </p:txBody>
      </p:sp>
      <p:sp>
        <p:nvSpPr>
          <p:cNvPr id="57" name="Rectangle 56"/>
          <p:cNvSpPr/>
          <p:nvPr/>
        </p:nvSpPr>
        <p:spPr>
          <a:xfrm>
            <a:off x="6306158" y="4407408"/>
            <a:ext cx="2339263" cy="22860"/>
          </a:xfrm>
          <a:prstGeom prst="rect">
            <a:avLst/>
          </a:prstGeom>
          <a:solidFill>
            <a:srgbClr val="EF5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06158" y="4553712"/>
            <a:ext cx="2339263" cy="169100"/>
          </a:xfrm>
          <a:prstGeom prst="rect">
            <a:avLst/>
          </a:prstGeom>
          <a:noFill/>
        </p:spPr>
        <p:txBody>
          <a:bodyPr wrap="square" lIns="0" rIns="0" tIns="0" bIns="0" anchor="t">
            <a:spAutoFit/>
          </a:bodyPr>
          <a:lstStyle/>
          <a:p>
            <a:pPr algn="l">
              <a:lnSpc>
                <a:spcPts val="1187"/>
              </a:lnSpc>
            </a:pPr>
            <a:r>
              <a:rPr sz="950" spc="130">
                <a:solidFill>
                  <a:srgbClr val="F6F5F2"/>
                </a:solidFill>
                <a:latin typeface="Segoe UI Semibold"/>
              </a:rPr>
              <a:t>OPERATIONS</a:t>
            </a:r>
          </a:p>
        </p:txBody>
      </p:sp>
      <p:sp>
        <p:nvSpPr>
          <p:cNvPr id="59" name="TextBox 58"/>
          <p:cNvSpPr txBox="1"/>
          <p:nvPr/>
        </p:nvSpPr>
        <p:spPr>
          <a:xfrm>
            <a:off x="6306158" y="4832540"/>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Transport routes &amp; stops</a:t>
            </a:r>
          </a:p>
        </p:txBody>
      </p:sp>
      <p:sp>
        <p:nvSpPr>
          <p:cNvPr id="60" name="TextBox 59"/>
          <p:cNvSpPr txBox="1"/>
          <p:nvPr/>
        </p:nvSpPr>
        <p:spPr>
          <a:xfrm>
            <a:off x="6306158" y="5018163"/>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Buses &amp; drivers</a:t>
            </a:r>
          </a:p>
        </p:txBody>
      </p:sp>
      <p:sp>
        <p:nvSpPr>
          <p:cNvPr id="61" name="TextBox 60"/>
          <p:cNvSpPr txBox="1"/>
          <p:nvPr/>
        </p:nvSpPr>
        <p:spPr>
          <a:xfrm>
            <a:off x="6306158" y="5203786"/>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Live tracking</a:t>
            </a:r>
          </a:p>
        </p:txBody>
      </p:sp>
      <p:sp>
        <p:nvSpPr>
          <p:cNvPr id="62" name="TextBox 61"/>
          <p:cNvSpPr txBox="1"/>
          <p:nvPr/>
        </p:nvSpPr>
        <p:spPr>
          <a:xfrm>
            <a:off x="6306158" y="5389409"/>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Library</a:t>
            </a:r>
          </a:p>
        </p:txBody>
      </p:sp>
      <p:sp>
        <p:nvSpPr>
          <p:cNvPr id="63" name="TextBox 62"/>
          <p:cNvSpPr txBox="1"/>
          <p:nvPr/>
        </p:nvSpPr>
        <p:spPr>
          <a:xfrm>
            <a:off x="6306158" y="5575032"/>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Inventory</a:t>
            </a:r>
          </a:p>
        </p:txBody>
      </p:sp>
      <p:sp>
        <p:nvSpPr>
          <p:cNvPr id="64" name="TextBox 63"/>
          <p:cNvSpPr txBox="1"/>
          <p:nvPr/>
        </p:nvSpPr>
        <p:spPr>
          <a:xfrm>
            <a:off x="6306158" y="5760655"/>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Events</a:t>
            </a:r>
          </a:p>
        </p:txBody>
      </p:sp>
      <p:sp>
        <p:nvSpPr>
          <p:cNvPr id="65" name="TextBox 64"/>
          <p:cNvSpPr txBox="1"/>
          <p:nvPr/>
        </p:nvSpPr>
        <p:spPr>
          <a:xfrm>
            <a:off x="6306158" y="5946278"/>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Sports</a:t>
            </a:r>
          </a:p>
        </p:txBody>
      </p:sp>
      <p:sp>
        <p:nvSpPr>
          <p:cNvPr id="66" name="TextBox 65"/>
          <p:cNvSpPr txBox="1"/>
          <p:nvPr/>
        </p:nvSpPr>
        <p:spPr>
          <a:xfrm>
            <a:off x="6306158" y="6131901"/>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School website</a:t>
            </a:r>
          </a:p>
        </p:txBody>
      </p:sp>
      <p:sp>
        <p:nvSpPr>
          <p:cNvPr id="67" name="Rectangle 66"/>
          <p:cNvSpPr/>
          <p:nvPr/>
        </p:nvSpPr>
        <p:spPr>
          <a:xfrm>
            <a:off x="9066045" y="4407408"/>
            <a:ext cx="2339263" cy="22860"/>
          </a:xfrm>
          <a:prstGeom prst="rect">
            <a:avLst/>
          </a:prstGeom>
          <a:solidFill>
            <a:srgbClr val="F0A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66045" y="4553712"/>
            <a:ext cx="2339263" cy="169100"/>
          </a:xfrm>
          <a:prstGeom prst="rect">
            <a:avLst/>
          </a:prstGeom>
          <a:noFill/>
        </p:spPr>
        <p:txBody>
          <a:bodyPr wrap="square" lIns="0" rIns="0" tIns="0" bIns="0" anchor="t">
            <a:spAutoFit/>
          </a:bodyPr>
          <a:lstStyle/>
          <a:p>
            <a:pPr algn="l">
              <a:lnSpc>
                <a:spcPts val="1187"/>
              </a:lnSpc>
            </a:pPr>
            <a:r>
              <a:rPr sz="950" spc="130">
                <a:solidFill>
                  <a:srgbClr val="F6F5F2"/>
                </a:solidFill>
                <a:latin typeface="Segoe UI Semibold"/>
              </a:rPr>
              <a:t>ADMINISTRATION</a:t>
            </a:r>
          </a:p>
        </p:txBody>
      </p:sp>
      <p:sp>
        <p:nvSpPr>
          <p:cNvPr id="69" name="TextBox 68"/>
          <p:cNvSpPr txBox="1"/>
          <p:nvPr/>
        </p:nvSpPr>
        <p:spPr>
          <a:xfrm>
            <a:off x="9066045" y="4832540"/>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Administrator dashboard</a:t>
            </a:r>
          </a:p>
        </p:txBody>
      </p:sp>
      <p:sp>
        <p:nvSpPr>
          <p:cNvPr id="70" name="TextBox 69"/>
          <p:cNvSpPr txBox="1"/>
          <p:nvPr/>
        </p:nvSpPr>
        <p:spPr>
          <a:xfrm>
            <a:off x="9066045" y="5018163"/>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Roles &amp; permissions</a:t>
            </a:r>
          </a:p>
        </p:txBody>
      </p:sp>
      <p:sp>
        <p:nvSpPr>
          <p:cNvPr id="71" name="TextBox 70"/>
          <p:cNvSpPr txBox="1"/>
          <p:nvPr/>
        </p:nvSpPr>
        <p:spPr>
          <a:xfrm>
            <a:off x="9066045" y="5203786"/>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Branding</a:t>
            </a:r>
          </a:p>
        </p:txBody>
      </p:sp>
      <p:sp>
        <p:nvSpPr>
          <p:cNvPr id="72" name="TextBox 71"/>
          <p:cNvSpPr txBox="1"/>
          <p:nvPr/>
        </p:nvSpPr>
        <p:spPr>
          <a:xfrm>
            <a:off x="9066045" y="5389409"/>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Audit trail</a:t>
            </a:r>
          </a:p>
        </p:txBody>
      </p:sp>
      <p:sp>
        <p:nvSpPr>
          <p:cNvPr id="73" name="TextBox 72"/>
          <p:cNvSpPr txBox="1"/>
          <p:nvPr/>
        </p:nvSpPr>
        <p:spPr>
          <a:xfrm>
            <a:off x="9066045" y="5575032"/>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Custom domain</a:t>
            </a:r>
          </a:p>
        </p:txBody>
      </p:sp>
      <p:sp>
        <p:nvSpPr>
          <p:cNvPr id="74" name="TextBox 73"/>
          <p:cNvSpPr txBox="1"/>
          <p:nvPr/>
        </p:nvSpPr>
        <p:spPr>
          <a:xfrm>
            <a:off x="9066045" y="5760655"/>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Progressive web app</a:t>
            </a:r>
          </a:p>
        </p:txBody>
      </p:sp>
      <p:sp>
        <p:nvSpPr>
          <p:cNvPr id="75" name="TextBox 74"/>
          <p:cNvSpPr txBox="1"/>
          <p:nvPr/>
        </p:nvSpPr>
        <p:spPr>
          <a:xfrm>
            <a:off x="9066045" y="5946278"/>
            <a:ext cx="2339263" cy="169164"/>
          </a:xfrm>
          <a:prstGeom prst="rect">
            <a:avLst/>
          </a:prstGeom>
          <a:noFill/>
        </p:spPr>
        <p:txBody>
          <a:bodyPr wrap="square" lIns="0" rIns="0" tIns="0" bIns="0" anchor="t">
            <a:spAutoFit/>
          </a:bodyPr>
          <a:lstStyle/>
          <a:p>
            <a:pPr algn="l">
              <a:lnSpc>
                <a:spcPts val="1188"/>
              </a:lnSpc>
            </a:pPr>
            <a:r>
              <a:rPr sz="900">
                <a:solidFill>
                  <a:srgbClr val="ADB3C6"/>
                </a:solidFill>
                <a:latin typeface="Segoe UI"/>
              </a:rPr>
              <a:t>Reports &amp; analytics</a:t>
            </a:r>
          </a:p>
        </p:txBody>
      </p:sp>
      <p:sp>
        <p:nvSpPr>
          <p:cNvPr id="76" name="TextBox 75"/>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71798F"/>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42415"/>
            <a:ext cx="6400800" cy="191643"/>
          </a:xfrm>
          <a:prstGeom prst="rect">
            <a:avLst/>
          </a:prstGeom>
          <a:noFill/>
        </p:spPr>
        <p:txBody>
          <a:bodyPr wrap="square" lIns="0" rIns="0" tIns="0" bIns="0" anchor="t">
            <a:spAutoFit/>
          </a:bodyPr>
          <a:lstStyle/>
          <a:p>
            <a:pPr algn="l">
              <a:lnSpc>
                <a:spcPts val="1365"/>
              </a:lnSpc>
            </a:pPr>
            <a:r>
              <a:rPr sz="1050" spc="180">
                <a:solidFill>
                  <a:srgbClr val="6C4BF4"/>
                </a:solidFill>
                <a:latin typeface="Segoe UI Semibold"/>
              </a:rPr>
              <a:t>FOR THE PRINCIPAL AND THE MANAGEMENT</a:t>
            </a:r>
          </a:p>
        </p:txBody>
      </p:sp>
      <p:sp>
        <p:nvSpPr>
          <p:cNvPr id="5" name="TextBox 4"/>
          <p:cNvSpPr txBox="1"/>
          <p:nvPr/>
        </p:nvSpPr>
        <p:spPr>
          <a:xfrm>
            <a:off x="786384" y="1398650"/>
            <a:ext cx="3877056" cy="1088136"/>
          </a:xfrm>
          <a:prstGeom prst="rect">
            <a:avLst/>
          </a:prstGeom>
          <a:noFill/>
        </p:spPr>
        <p:txBody>
          <a:bodyPr wrap="square" lIns="0" rIns="0" tIns="0" bIns="0" anchor="t">
            <a:spAutoFit/>
          </a:bodyPr>
          <a:lstStyle/>
          <a:p>
            <a:pPr algn="l">
              <a:lnSpc>
                <a:spcPts val="2808"/>
              </a:lnSpc>
            </a:pPr>
            <a:r>
              <a:rPr sz="2600">
                <a:solidFill>
                  <a:srgbClr val="0A1024"/>
                </a:solidFill>
                <a:latin typeface="Segoe UI Semibold"/>
              </a:rPr>
              <a:t>The whole school on one screen,</a:t>
            </a:r>
          </a:p>
          <a:p>
            <a:pPr algn="l">
              <a:lnSpc>
                <a:spcPts val="2808"/>
              </a:lnSpc>
            </a:pPr>
            <a:r>
              <a:rPr sz="2600">
                <a:solidFill>
                  <a:srgbClr val="0A1024"/>
                </a:solidFill>
                <a:latin typeface="Segoe UI Semibold"/>
              </a:rPr>
              <a:t>before your first meeting.</a:t>
            </a:r>
          </a:p>
        </p:txBody>
      </p:sp>
      <p:sp>
        <p:nvSpPr>
          <p:cNvPr id="6" name="TextBox 5"/>
          <p:cNvSpPr txBox="1"/>
          <p:nvPr/>
        </p:nvSpPr>
        <p:spPr>
          <a:xfrm>
            <a:off x="786384" y="2687954"/>
            <a:ext cx="3877056" cy="602361"/>
          </a:xfrm>
          <a:prstGeom prst="rect">
            <a:avLst/>
          </a:prstGeom>
          <a:noFill/>
        </p:spPr>
        <p:txBody>
          <a:bodyPr wrap="square" lIns="0" rIns="0" tIns="0" bIns="0" anchor="t">
            <a:spAutoFit/>
          </a:bodyPr>
          <a:lstStyle/>
          <a:p>
            <a:pPr algn="l">
              <a:lnSpc>
                <a:spcPts val="1533"/>
              </a:lnSpc>
            </a:pPr>
            <a:r>
              <a:rPr sz="1050">
                <a:solidFill>
                  <a:srgbClr val="535B6E"/>
                </a:solidFill>
                <a:latin typeface="Segoe UI"/>
              </a:rPr>
              <a:t>Ordered by the questions a head of school asks on the way in: how many children do we have, were they here, has the money arrived, and is anything on fire.</a:t>
            </a:r>
          </a:p>
        </p:txBody>
      </p:sp>
      <p:sp>
        <p:nvSpPr>
          <p:cNvPr id="7" name="Rectangle 6"/>
          <p:cNvSpPr/>
          <p:nvPr/>
        </p:nvSpPr>
        <p:spPr>
          <a:xfrm>
            <a:off x="786384" y="3546347"/>
            <a:ext cx="3877056"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3845279"/>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3784091"/>
            <a:ext cx="3694176" cy="365455"/>
          </a:xfrm>
          <a:prstGeom prst="rect">
            <a:avLst/>
          </a:prstGeom>
          <a:noFill/>
        </p:spPr>
        <p:txBody>
          <a:bodyPr wrap="square" lIns="0" rIns="0" tIns="0" bIns="0" anchor="t">
            <a:spAutoFit/>
          </a:bodyPr>
          <a:lstStyle/>
          <a:p>
            <a:pPr algn="l">
              <a:lnSpc>
                <a:spcPts val="1366"/>
              </a:lnSpc>
            </a:pPr>
            <a:r>
              <a:rPr sz="1019">
                <a:solidFill>
                  <a:srgbClr val="535B6E"/>
                </a:solidFill>
                <a:latin typeface="Segoe UI"/>
              </a:rPr>
              <a:t>Strength, staff and guardians, with the movement since last month</a:t>
            </a:r>
          </a:p>
        </p:txBody>
      </p:sp>
      <p:sp>
        <p:nvSpPr>
          <p:cNvPr id="10" name="Oval 9"/>
          <p:cNvSpPr/>
          <p:nvPr/>
        </p:nvSpPr>
        <p:spPr>
          <a:xfrm>
            <a:off x="786384" y="4334178"/>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4272990"/>
            <a:ext cx="3694176" cy="365455"/>
          </a:xfrm>
          <a:prstGeom prst="rect">
            <a:avLst/>
          </a:prstGeom>
          <a:noFill/>
        </p:spPr>
        <p:txBody>
          <a:bodyPr wrap="square" lIns="0" rIns="0" tIns="0" bIns="0" anchor="t">
            <a:spAutoFit/>
          </a:bodyPr>
          <a:lstStyle/>
          <a:p>
            <a:pPr algn="l">
              <a:lnSpc>
                <a:spcPts val="1366"/>
              </a:lnSpc>
            </a:pPr>
            <a:r>
              <a:rPr sz="1019">
                <a:solidFill>
                  <a:srgbClr val="535B6E"/>
                </a:solidFill>
                <a:latin typeface="Segoe UI"/>
              </a:rPr>
              <a:t>Attendance today — present, absent, late, and which registers are still unsubmitted</a:t>
            </a:r>
          </a:p>
        </p:txBody>
      </p:sp>
      <p:sp>
        <p:nvSpPr>
          <p:cNvPr id="12" name="Oval 11"/>
          <p:cNvSpPr/>
          <p:nvPr/>
        </p:nvSpPr>
        <p:spPr>
          <a:xfrm>
            <a:off x="786384" y="4823077"/>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4761889"/>
            <a:ext cx="3694176" cy="191871"/>
          </a:xfrm>
          <a:prstGeom prst="rect">
            <a:avLst/>
          </a:prstGeom>
          <a:noFill/>
        </p:spPr>
        <p:txBody>
          <a:bodyPr wrap="square" lIns="0" rIns="0" tIns="0" bIns="0" anchor="t">
            <a:spAutoFit/>
          </a:bodyPr>
          <a:lstStyle/>
          <a:p>
            <a:pPr algn="l">
              <a:lnSpc>
                <a:spcPts val="1366"/>
              </a:lnSpc>
            </a:pPr>
            <a:r>
              <a:rPr sz="1019">
                <a:solidFill>
                  <a:srgbClr val="535B6E"/>
                </a:solidFill>
                <a:latin typeface="Segoe UI"/>
              </a:rPr>
              <a:t>Collected today and this month, against pending and overdue</a:t>
            </a:r>
          </a:p>
        </p:txBody>
      </p:sp>
      <p:sp>
        <p:nvSpPr>
          <p:cNvPr id="14" name="Oval 13"/>
          <p:cNvSpPr/>
          <p:nvPr/>
        </p:nvSpPr>
        <p:spPr>
          <a:xfrm>
            <a:off x="786384" y="5138392"/>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5077204"/>
            <a:ext cx="3694176" cy="191871"/>
          </a:xfrm>
          <a:prstGeom prst="rect">
            <a:avLst/>
          </a:prstGeom>
          <a:noFill/>
        </p:spPr>
        <p:txBody>
          <a:bodyPr wrap="square" lIns="0" rIns="0" tIns="0" bIns="0" anchor="t">
            <a:spAutoFit/>
          </a:bodyPr>
          <a:lstStyle/>
          <a:p>
            <a:pPr algn="l">
              <a:lnSpc>
                <a:spcPts val="1366"/>
              </a:lnSpc>
            </a:pPr>
            <a:r>
              <a:rPr sz="1019">
                <a:solidFill>
                  <a:srgbClr val="535B6E"/>
                </a:solidFill>
                <a:latin typeface="Segoe UI"/>
              </a:rPr>
              <a:t>New enquiries this week and how many are still open</a:t>
            </a:r>
          </a:p>
        </p:txBody>
      </p:sp>
      <p:sp>
        <p:nvSpPr>
          <p:cNvPr id="16" name="Oval 15"/>
          <p:cNvSpPr/>
          <p:nvPr/>
        </p:nvSpPr>
        <p:spPr>
          <a:xfrm>
            <a:off x="786384" y="5453707"/>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5392519"/>
            <a:ext cx="3694176" cy="365455"/>
          </a:xfrm>
          <a:prstGeom prst="rect">
            <a:avLst/>
          </a:prstGeom>
          <a:noFill/>
        </p:spPr>
        <p:txBody>
          <a:bodyPr wrap="square" lIns="0" rIns="0" tIns="0" bIns="0" anchor="t">
            <a:spAutoFit/>
          </a:bodyPr>
          <a:lstStyle/>
          <a:p>
            <a:pPr algn="l">
              <a:lnSpc>
                <a:spcPts val="1366"/>
              </a:lnSpc>
            </a:pPr>
            <a:r>
              <a:rPr sz="1019">
                <a:solidFill>
                  <a:srgbClr val="535B6E"/>
                </a:solidFill>
                <a:latin typeface="Segoe UI"/>
              </a:rPr>
              <a:t>Needs attention: unmarked registers, invoices past due, leave to approve</a:t>
            </a:r>
          </a:p>
        </p:txBody>
      </p:sp>
      <p:sp>
        <p:nvSpPr>
          <p:cNvPr id="19" name="Rounded Rectangle 18"/>
          <p:cNvSpPr/>
          <p:nvPr/>
        </p:nvSpPr>
        <p:spPr>
          <a:xfrm>
            <a:off x="5074920" y="996695"/>
            <a:ext cx="6373368" cy="3728283"/>
          </a:xfrm>
          <a:prstGeom prst="roundRect">
            <a:avLst>
              <a:gd name="adj" fmla="val 1799"/>
            </a:avLst>
          </a:prstGeom>
          <a:solidFill>
            <a:srgbClr val="FFFFFF"/>
          </a:solidFill>
          <a:ln w="9525">
            <a:solidFill>
              <a:srgbClr val="DFE3EC"/>
            </a:solidFill>
          </a:ln>
          <a:effectLst>
            <a:outerShdw blurRad="457200" dist="165100" dir="5400000" rotWithShape="0">
              <a:srgbClr val="0A1024">
                <a:alpha val="1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ashboard.png"/>
          <p:cNvPicPr>
            <a:picLocks noChangeAspect="1"/>
          </p:cNvPicPr>
          <p:nvPr/>
        </p:nvPicPr>
        <p:blipFill>
          <a:blip r:embed="rId3"/>
          <a:srcRect b="21500"/>
          <a:stretch>
            <a:fillRect/>
          </a:stretch>
        </p:blipFill>
        <p:spPr>
          <a:xfrm>
            <a:off x="5120640" y="1042415"/>
            <a:ext cx="6281928" cy="3636843"/>
          </a:xfrm>
          <a:prstGeom prst="rect">
            <a:avLst/>
          </a:prstGeom>
        </p:spPr>
      </p:pic>
      <p:sp>
        <p:nvSpPr>
          <p:cNvPr id="20" name="TextBox 19"/>
          <p:cNvSpPr txBox="1"/>
          <p:nvPr/>
        </p:nvSpPr>
        <p:spPr>
          <a:xfrm>
            <a:off x="5120640" y="4834706"/>
            <a:ext cx="6281928" cy="175133"/>
          </a:xfrm>
          <a:prstGeom prst="rect">
            <a:avLst/>
          </a:prstGeom>
          <a:noFill/>
        </p:spPr>
        <p:txBody>
          <a:bodyPr wrap="square" lIns="0" rIns="0" tIns="0" bIns="0" anchor="t">
            <a:spAutoFit/>
          </a:bodyPr>
          <a:lstStyle/>
          <a:p>
            <a:pPr algn="l">
              <a:lnSpc>
                <a:spcPts val="1235"/>
              </a:lnSpc>
            </a:pPr>
            <a:r>
              <a:rPr sz="950">
                <a:solidFill>
                  <a:srgbClr val="8A92A3"/>
                </a:solidFill>
                <a:latin typeface="Segoe UI"/>
              </a:rPr>
              <a:t>Administrator dashboard. Live figures from a demonstration school of 120 students.</a:t>
            </a:r>
          </a:p>
        </p:txBody>
      </p:sp>
      <p:sp>
        <p:nvSpPr>
          <p:cNvPr id="21" name="TextBox 20"/>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42415"/>
            <a:ext cx="6400800" cy="191643"/>
          </a:xfrm>
          <a:prstGeom prst="rect">
            <a:avLst/>
          </a:prstGeom>
          <a:noFill/>
        </p:spPr>
        <p:txBody>
          <a:bodyPr wrap="square" lIns="0" rIns="0" tIns="0" bIns="0" anchor="t">
            <a:spAutoFit/>
          </a:bodyPr>
          <a:lstStyle/>
          <a:p>
            <a:pPr algn="l">
              <a:lnSpc>
                <a:spcPts val="1365"/>
              </a:lnSpc>
            </a:pPr>
            <a:r>
              <a:rPr sz="1050" spc="180">
                <a:solidFill>
                  <a:srgbClr val="EF5BA8"/>
                </a:solidFill>
                <a:latin typeface="Segoe UI Semibold"/>
              </a:rPr>
              <a:t>GROWTH</a:t>
            </a:r>
          </a:p>
        </p:txBody>
      </p:sp>
      <p:sp>
        <p:nvSpPr>
          <p:cNvPr id="5" name="TextBox 4"/>
          <p:cNvSpPr txBox="1"/>
          <p:nvPr/>
        </p:nvSpPr>
        <p:spPr>
          <a:xfrm>
            <a:off x="786384" y="1398650"/>
            <a:ext cx="4937760" cy="813816"/>
          </a:xfrm>
          <a:prstGeom prst="rect">
            <a:avLst/>
          </a:prstGeom>
          <a:noFill/>
        </p:spPr>
        <p:txBody>
          <a:bodyPr wrap="square" lIns="0" rIns="0" tIns="0" bIns="0" anchor="t">
            <a:spAutoFit/>
          </a:bodyPr>
          <a:lstStyle/>
          <a:p>
            <a:pPr algn="l">
              <a:lnSpc>
                <a:spcPts val="3132"/>
              </a:lnSpc>
            </a:pPr>
            <a:r>
              <a:rPr sz="2900">
                <a:solidFill>
                  <a:srgbClr val="0A1024"/>
                </a:solidFill>
                <a:latin typeface="Segoe UI Semibold"/>
              </a:rPr>
              <a:t>Every enquiry on the system</a:t>
            </a:r>
          </a:p>
          <a:p>
            <a:pPr algn="l">
              <a:lnSpc>
                <a:spcPts val="3132"/>
              </a:lnSpc>
            </a:pPr>
            <a:r>
              <a:rPr sz="2900">
                <a:solidFill>
                  <a:srgbClr val="0A1024"/>
                </a:solidFill>
                <a:latin typeface="Segoe UI Semibold"/>
              </a:rPr>
              <a:t>from the first phone call.</a:t>
            </a:r>
          </a:p>
        </p:txBody>
      </p:sp>
      <p:sp>
        <p:nvSpPr>
          <p:cNvPr id="6" name="TextBox 5"/>
          <p:cNvSpPr txBox="1"/>
          <p:nvPr/>
        </p:nvSpPr>
        <p:spPr>
          <a:xfrm>
            <a:off x="786384" y="2431922"/>
            <a:ext cx="4937760" cy="619048"/>
          </a:xfrm>
          <a:prstGeom prst="rect">
            <a:avLst/>
          </a:prstGeom>
          <a:noFill/>
        </p:spPr>
        <p:txBody>
          <a:bodyPr wrap="square" lIns="0" rIns="0" tIns="0" bIns="0" anchor="t">
            <a:spAutoFit/>
          </a:bodyPr>
          <a:lstStyle/>
          <a:p>
            <a:pPr algn="l">
              <a:lnSpc>
                <a:spcPts val="1576"/>
              </a:lnSpc>
            </a:pPr>
            <a:r>
              <a:rPr sz="1080">
                <a:solidFill>
                  <a:srgbClr val="535B6E"/>
                </a:solidFill>
                <a:latin typeface="Segoe UI"/>
              </a:rPr>
              <a:t>Admissions is where schools lose the most information and notice it the least. A school with three hundred enquiries a season and a two-point leak has lost six admissions, and no report will ever show it.</a:t>
            </a:r>
          </a:p>
        </p:txBody>
      </p:sp>
      <p:sp>
        <p:nvSpPr>
          <p:cNvPr id="7" name="Rectangle 6"/>
          <p:cNvSpPr/>
          <p:nvPr/>
        </p:nvSpPr>
        <p:spPr>
          <a:xfrm>
            <a:off x="786384" y="3343578"/>
            <a:ext cx="2313432"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3471594"/>
            <a:ext cx="2313432" cy="175640"/>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A pipeline, not a notebook</a:t>
            </a:r>
          </a:p>
        </p:txBody>
      </p:sp>
      <p:sp>
        <p:nvSpPr>
          <p:cNvPr id="9" name="TextBox 8"/>
          <p:cNvSpPr txBox="1"/>
          <p:nvPr/>
        </p:nvSpPr>
        <p:spPr>
          <a:xfrm>
            <a:off x="786384" y="3679238"/>
            <a:ext cx="2313432" cy="463905"/>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New, contacted, interested, campus visit, application, documents, approved, enrolled — moved on a board the whole office can see.</a:t>
            </a:r>
          </a:p>
        </p:txBody>
      </p:sp>
      <p:sp>
        <p:nvSpPr>
          <p:cNvPr id="10" name="Rectangle 9"/>
          <p:cNvSpPr/>
          <p:nvPr/>
        </p:nvSpPr>
        <p:spPr>
          <a:xfrm>
            <a:off x="3410712" y="3343578"/>
            <a:ext cx="2313432"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10712" y="3471594"/>
            <a:ext cx="2313432" cy="332993"/>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Follow-ups that have an owner and a date</a:t>
            </a:r>
          </a:p>
        </p:txBody>
      </p:sp>
      <p:sp>
        <p:nvSpPr>
          <p:cNvPr id="12" name="TextBox 11"/>
          <p:cNvSpPr txBox="1"/>
          <p:nvPr/>
        </p:nvSpPr>
        <p:spPr>
          <a:xfrm>
            <a:off x="3410712" y="3836591"/>
            <a:ext cx="2313432" cy="315366"/>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One queue answering who to contact today and what is already overdue.</a:t>
            </a:r>
          </a:p>
        </p:txBody>
      </p:sp>
      <p:sp>
        <p:nvSpPr>
          <p:cNvPr id="13" name="Rectangle 12"/>
          <p:cNvSpPr/>
          <p:nvPr/>
        </p:nvSpPr>
        <p:spPr>
          <a:xfrm>
            <a:off x="786384" y="4353125"/>
            <a:ext cx="2313432"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4481141"/>
            <a:ext cx="2313432" cy="175640"/>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Where enquiries come from</a:t>
            </a:r>
          </a:p>
        </p:txBody>
      </p:sp>
      <p:sp>
        <p:nvSpPr>
          <p:cNvPr id="15" name="TextBox 14"/>
          <p:cNvSpPr txBox="1"/>
          <p:nvPr/>
        </p:nvSpPr>
        <p:spPr>
          <a:xfrm>
            <a:off x="786384" y="4688785"/>
            <a:ext cx="2313432" cy="463905"/>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Walk-in, referral, website, call or campaign — recorded at capture, so spend can be judged against enrolments rather than guessed.</a:t>
            </a:r>
          </a:p>
        </p:txBody>
      </p:sp>
      <p:sp>
        <p:nvSpPr>
          <p:cNvPr id="16" name="Rectangle 15"/>
          <p:cNvSpPr/>
          <p:nvPr/>
        </p:nvSpPr>
        <p:spPr>
          <a:xfrm>
            <a:off x="3410712" y="4353125"/>
            <a:ext cx="2313432"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0712" y="4481141"/>
            <a:ext cx="2313432" cy="332993"/>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Conversion by source, by stage and by counsellor</a:t>
            </a:r>
          </a:p>
        </p:txBody>
      </p:sp>
      <p:sp>
        <p:nvSpPr>
          <p:cNvPr id="18" name="TextBox 17"/>
          <p:cNvSpPr txBox="1"/>
          <p:nvPr/>
        </p:nvSpPr>
        <p:spPr>
          <a:xfrm>
            <a:off x="3410712" y="4846138"/>
            <a:ext cx="2313432" cy="463905"/>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The funnel report shows where enquiries stall and why they were lost, exportable stage by stage and owner by owner.</a:t>
            </a:r>
          </a:p>
        </p:txBody>
      </p:sp>
      <p:sp>
        <p:nvSpPr>
          <p:cNvPr id="19" name="Rectangle 18"/>
          <p:cNvSpPr/>
          <p:nvPr/>
        </p:nvSpPr>
        <p:spPr>
          <a:xfrm>
            <a:off x="786384" y="5511211"/>
            <a:ext cx="2313432"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5639227"/>
            <a:ext cx="2313432" cy="175640"/>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Enrolment in one step</a:t>
            </a:r>
          </a:p>
        </p:txBody>
      </p:sp>
      <p:sp>
        <p:nvSpPr>
          <p:cNvPr id="21" name="TextBox 20"/>
          <p:cNvSpPr txBox="1"/>
          <p:nvPr/>
        </p:nvSpPr>
        <p:spPr>
          <a:xfrm>
            <a:off x="786384" y="5846871"/>
            <a:ext cx="2313432" cy="612444"/>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The student record, the enrolment and the guardian accounts are written together — and the fee structure for that class applies from the same moment.</a:t>
            </a:r>
          </a:p>
        </p:txBody>
      </p:sp>
      <p:sp>
        <p:nvSpPr>
          <p:cNvPr id="22" name="Rectangle 21"/>
          <p:cNvSpPr/>
          <p:nvPr/>
        </p:nvSpPr>
        <p:spPr>
          <a:xfrm>
            <a:off x="3410712" y="5511211"/>
            <a:ext cx="2313432"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10712" y="5639227"/>
            <a:ext cx="2313432" cy="332993"/>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A public enquiry form on your own site</a:t>
            </a:r>
          </a:p>
        </p:txBody>
      </p:sp>
      <p:sp>
        <p:nvSpPr>
          <p:cNvPr id="24" name="TextBox 23"/>
          <p:cNvSpPr txBox="1"/>
          <p:nvPr/>
        </p:nvSpPr>
        <p:spPr>
          <a:xfrm>
            <a:off x="3410712" y="6004224"/>
            <a:ext cx="2313432" cy="315366"/>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Writes straight into the pipeline instead of into somebody's inbox.</a:t>
            </a:r>
          </a:p>
        </p:txBody>
      </p:sp>
      <p:sp>
        <p:nvSpPr>
          <p:cNvPr id="26" name="Rounded Rectangle 25"/>
          <p:cNvSpPr/>
          <p:nvPr/>
        </p:nvSpPr>
        <p:spPr>
          <a:xfrm>
            <a:off x="6227064" y="978408"/>
            <a:ext cx="5221224" cy="3016350"/>
          </a:xfrm>
          <a:prstGeom prst="roundRect">
            <a:avLst>
              <a:gd name="adj" fmla="val 1799"/>
            </a:avLst>
          </a:prstGeom>
          <a:solidFill>
            <a:srgbClr val="FFFFFF"/>
          </a:solidFill>
          <a:ln w="9525">
            <a:solidFill>
              <a:srgbClr val="DFE3EC"/>
            </a:solidFill>
          </a:ln>
          <a:effectLst>
            <a:outerShdw blurRad="457200" dist="165100" dir="5400000" rotWithShape="0">
              <a:srgbClr val="0A1024">
                <a:alpha val="1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reports-adm.png"/>
          <p:cNvPicPr>
            <a:picLocks noChangeAspect="1"/>
          </p:cNvPicPr>
          <p:nvPr/>
        </p:nvPicPr>
        <p:blipFill>
          <a:blip r:embed="rId3"/>
          <a:srcRect l="15700" t="9300" r="500" b="21200"/>
          <a:stretch>
            <a:fillRect/>
          </a:stretch>
        </p:blipFill>
        <p:spPr>
          <a:xfrm>
            <a:off x="6272784" y="1024128"/>
            <a:ext cx="5129784" cy="2924910"/>
          </a:xfrm>
          <a:prstGeom prst="rect">
            <a:avLst/>
          </a:prstGeom>
        </p:spPr>
      </p:pic>
      <p:sp>
        <p:nvSpPr>
          <p:cNvPr id="28" name="Rounded Rectangle 27"/>
          <p:cNvSpPr/>
          <p:nvPr/>
        </p:nvSpPr>
        <p:spPr>
          <a:xfrm>
            <a:off x="6227064" y="4105656"/>
            <a:ext cx="5221224" cy="1438161"/>
          </a:xfrm>
          <a:prstGeom prst="roundRect">
            <a:avLst>
              <a:gd name="adj" fmla="val 1799"/>
            </a:avLst>
          </a:prstGeom>
          <a:solidFill>
            <a:srgbClr val="FFFFFF"/>
          </a:solidFill>
          <a:ln w="9525">
            <a:solidFill>
              <a:srgbClr val="DFE3EC"/>
            </a:solidFill>
          </a:ln>
          <a:effectLst>
            <a:outerShdw blurRad="457200" dist="165100" dir="5400000" rotWithShape="0">
              <a:srgbClr val="0A1024">
                <a:alpha val="1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dmissions.png"/>
          <p:cNvPicPr>
            <a:picLocks noChangeAspect="1"/>
          </p:cNvPicPr>
          <p:nvPr/>
        </p:nvPicPr>
        <p:blipFill>
          <a:blip r:embed="rId4"/>
          <a:srcRect l="15700" t="11800" r="500" b="53000"/>
          <a:stretch>
            <a:fillRect/>
          </a:stretch>
        </p:blipFill>
        <p:spPr>
          <a:xfrm>
            <a:off x="6272784" y="4151376"/>
            <a:ext cx="5129784" cy="1346721"/>
          </a:xfrm>
          <a:prstGeom prst="rect">
            <a:avLst/>
          </a:prstGeom>
        </p:spPr>
      </p:pic>
      <p:sp>
        <p:nvSpPr>
          <p:cNvPr id="29" name="TextBox 28"/>
          <p:cNvSpPr txBox="1"/>
          <p:nvPr/>
        </p:nvSpPr>
        <p:spPr>
          <a:xfrm>
            <a:off x="6272784" y="5653545"/>
            <a:ext cx="5129784" cy="175133"/>
          </a:xfrm>
          <a:prstGeom prst="rect">
            <a:avLst/>
          </a:prstGeom>
          <a:noFill/>
        </p:spPr>
        <p:txBody>
          <a:bodyPr wrap="square" lIns="0" rIns="0" tIns="0" bIns="0" anchor="t">
            <a:spAutoFit/>
          </a:bodyPr>
          <a:lstStyle/>
          <a:p>
            <a:pPr algn="l">
              <a:lnSpc>
                <a:spcPts val="1235"/>
              </a:lnSpc>
            </a:pPr>
            <a:r>
              <a:rPr sz="950">
                <a:solidFill>
                  <a:srgbClr val="8A92A3"/>
                </a:solidFill>
                <a:latin typeface="Segoe UI"/>
              </a:rPr>
              <a:t>Admissions funnel report and the enquiry pipeline.</a:t>
            </a:r>
          </a:p>
        </p:txBody>
      </p:sp>
      <p:sp>
        <p:nvSpPr>
          <p:cNvPr id="30" name="TextBox 29"/>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42415"/>
            <a:ext cx="6400800" cy="191643"/>
          </a:xfrm>
          <a:prstGeom prst="rect">
            <a:avLst/>
          </a:prstGeom>
          <a:noFill/>
        </p:spPr>
        <p:txBody>
          <a:bodyPr wrap="square" lIns="0" rIns="0" tIns="0" bIns="0" anchor="t">
            <a:spAutoFit/>
          </a:bodyPr>
          <a:lstStyle/>
          <a:p>
            <a:pPr algn="l">
              <a:lnSpc>
                <a:spcPts val="1365"/>
              </a:lnSpc>
            </a:pPr>
            <a:r>
              <a:rPr sz="1050" spc="180">
                <a:solidFill>
                  <a:srgbClr val="4EA3F5"/>
                </a:solidFill>
                <a:latin typeface="Segoe UI Semibold"/>
              </a:rPr>
              <a:t>RECORDS</a:t>
            </a:r>
          </a:p>
        </p:txBody>
      </p:sp>
      <p:sp>
        <p:nvSpPr>
          <p:cNvPr id="5" name="TextBox 4"/>
          <p:cNvSpPr txBox="1"/>
          <p:nvPr/>
        </p:nvSpPr>
        <p:spPr>
          <a:xfrm>
            <a:off x="786384" y="1398650"/>
            <a:ext cx="5669280" cy="868680"/>
          </a:xfrm>
          <a:prstGeom prst="rect">
            <a:avLst/>
          </a:prstGeom>
          <a:noFill/>
        </p:spPr>
        <p:txBody>
          <a:bodyPr wrap="square" lIns="0" rIns="0" tIns="0" bIns="0" anchor="t">
            <a:spAutoFit/>
          </a:bodyPr>
          <a:lstStyle/>
          <a:p>
            <a:pPr algn="l">
              <a:lnSpc>
                <a:spcPts val="3348"/>
              </a:lnSpc>
            </a:pPr>
            <a:r>
              <a:rPr sz="3100">
                <a:solidFill>
                  <a:srgbClr val="0A1024"/>
                </a:solidFill>
                <a:latin typeface="Segoe UI Semibold"/>
              </a:rPr>
              <a:t>Six years of a child's school life,</a:t>
            </a:r>
          </a:p>
          <a:p>
            <a:pPr algn="l">
              <a:lnSpc>
                <a:spcPts val="3348"/>
              </a:lnSpc>
            </a:pPr>
            <a:r>
              <a:rPr sz="3100">
                <a:solidFill>
                  <a:srgbClr val="0A1024"/>
                </a:solidFill>
                <a:latin typeface="Segoe UI Semibold"/>
              </a:rPr>
              <a:t>on one record.</a:t>
            </a:r>
          </a:p>
        </p:txBody>
      </p:sp>
      <p:sp>
        <p:nvSpPr>
          <p:cNvPr id="6" name="TextBox 5"/>
          <p:cNvSpPr txBox="1"/>
          <p:nvPr/>
        </p:nvSpPr>
        <p:spPr>
          <a:xfrm>
            <a:off x="786384" y="2486786"/>
            <a:ext cx="4937760" cy="426211"/>
          </a:xfrm>
          <a:prstGeom prst="rect">
            <a:avLst/>
          </a:prstGeom>
          <a:noFill/>
        </p:spPr>
        <p:txBody>
          <a:bodyPr wrap="square" lIns="0" rIns="0" tIns="0" bIns="0" anchor="t">
            <a:spAutoFit/>
          </a:bodyPr>
          <a:lstStyle/>
          <a:p>
            <a:pPr algn="l">
              <a:lnSpc>
                <a:spcPts val="1605"/>
              </a:lnSpc>
            </a:pPr>
            <a:r>
              <a:rPr sz="1100">
                <a:solidFill>
                  <a:srgbClr val="535B6E"/>
                </a:solidFill>
                <a:latin typeface="Segoe UI"/>
              </a:rPr>
              <a:t>A student record is not a form. It is attendance, marks, fees, documents and correspondence — and it should still make sense when the child leaves.</a:t>
            </a:r>
          </a:p>
        </p:txBody>
      </p:sp>
      <p:sp>
        <p:nvSpPr>
          <p:cNvPr id="7" name="Rectangle 6"/>
          <p:cNvSpPr/>
          <p:nvPr/>
        </p:nvSpPr>
        <p:spPr>
          <a:xfrm>
            <a:off x="786384" y="3639312"/>
            <a:ext cx="3234842" cy="22860"/>
          </a:xfrm>
          <a:prstGeom prst="rect">
            <a:avLst/>
          </a:prstGeom>
          <a:solidFill>
            <a:srgbClr val="4EA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3785616"/>
            <a:ext cx="3234842" cy="169100"/>
          </a:xfrm>
          <a:prstGeom prst="rect">
            <a:avLst/>
          </a:prstGeom>
          <a:noFill/>
        </p:spPr>
        <p:txBody>
          <a:bodyPr wrap="square" lIns="0" rIns="0" tIns="0" bIns="0" anchor="t">
            <a:spAutoFit/>
          </a:bodyPr>
          <a:lstStyle/>
          <a:p>
            <a:pPr algn="l">
              <a:lnSpc>
                <a:spcPts val="1187"/>
              </a:lnSpc>
            </a:pPr>
            <a:r>
              <a:rPr sz="950" spc="130">
                <a:solidFill>
                  <a:srgbClr val="0A1024"/>
                </a:solidFill>
                <a:latin typeface="Segoe UI Semibold"/>
              </a:rPr>
              <a:t>THE STUDENT</a:t>
            </a:r>
          </a:p>
        </p:txBody>
      </p:sp>
      <p:sp>
        <p:nvSpPr>
          <p:cNvPr id="9" name="TextBox 8"/>
          <p:cNvSpPr txBox="1"/>
          <p:nvPr/>
        </p:nvSpPr>
        <p:spPr>
          <a:xfrm>
            <a:off x="786384" y="4064444"/>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Admission details and guardians</a:t>
            </a:r>
          </a:p>
        </p:txBody>
      </p:sp>
      <p:sp>
        <p:nvSpPr>
          <p:cNvPr id="10" name="TextBox 9"/>
          <p:cNvSpPr txBox="1"/>
          <p:nvPr/>
        </p:nvSpPr>
        <p:spPr>
          <a:xfrm>
            <a:off x="786384" y="4333684"/>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Class and section history by year</a:t>
            </a:r>
          </a:p>
        </p:txBody>
      </p:sp>
      <p:sp>
        <p:nvSpPr>
          <p:cNvPr id="11" name="TextBox 10"/>
          <p:cNvSpPr txBox="1"/>
          <p:nvPr/>
        </p:nvSpPr>
        <p:spPr>
          <a:xfrm>
            <a:off x="786384" y="4602924"/>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Siblings as real relationships in the data</a:t>
            </a:r>
          </a:p>
        </p:txBody>
      </p:sp>
      <p:sp>
        <p:nvSpPr>
          <p:cNvPr id="12" name="TextBox 11"/>
          <p:cNvSpPr txBox="1"/>
          <p:nvPr/>
        </p:nvSpPr>
        <p:spPr>
          <a:xfrm>
            <a:off x="786384" y="4872164"/>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Fees raised, paid and outstanding</a:t>
            </a:r>
          </a:p>
        </p:txBody>
      </p:sp>
      <p:sp>
        <p:nvSpPr>
          <p:cNvPr id="13" name="TextBox 12"/>
          <p:cNvSpPr txBox="1"/>
          <p:nvPr/>
        </p:nvSpPr>
        <p:spPr>
          <a:xfrm>
            <a:off x="786384" y="5141404"/>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Transport route and stop</a:t>
            </a:r>
          </a:p>
        </p:txBody>
      </p:sp>
      <p:sp>
        <p:nvSpPr>
          <p:cNvPr id="14" name="TextBox 13"/>
          <p:cNvSpPr txBox="1"/>
          <p:nvPr/>
        </p:nvSpPr>
        <p:spPr>
          <a:xfrm>
            <a:off x="786384" y="5410644"/>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Messages exchanged with the family</a:t>
            </a:r>
          </a:p>
        </p:txBody>
      </p:sp>
      <p:sp>
        <p:nvSpPr>
          <p:cNvPr id="15" name="Rectangle 14"/>
          <p:cNvSpPr/>
          <p:nvPr/>
        </p:nvSpPr>
        <p:spPr>
          <a:xfrm>
            <a:off x="4478426" y="3639312"/>
            <a:ext cx="3234842" cy="22860"/>
          </a:xfrm>
          <a:prstGeom prst="rect">
            <a:avLst/>
          </a:prstGeom>
          <a:solidFill>
            <a:srgbClr val="EF5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8426" y="3785616"/>
            <a:ext cx="3234842" cy="169100"/>
          </a:xfrm>
          <a:prstGeom prst="rect">
            <a:avLst/>
          </a:prstGeom>
          <a:noFill/>
        </p:spPr>
        <p:txBody>
          <a:bodyPr wrap="square" lIns="0" rIns="0" tIns="0" bIns="0" anchor="t">
            <a:spAutoFit/>
          </a:bodyPr>
          <a:lstStyle/>
          <a:p>
            <a:pPr algn="l">
              <a:lnSpc>
                <a:spcPts val="1187"/>
              </a:lnSpc>
            </a:pPr>
            <a:r>
              <a:rPr sz="950" spc="130">
                <a:solidFill>
                  <a:srgbClr val="0A1024"/>
                </a:solidFill>
                <a:latin typeface="Segoe UI Semibold"/>
              </a:rPr>
              <a:t>THE CLASSROOM</a:t>
            </a:r>
          </a:p>
        </p:txBody>
      </p:sp>
      <p:sp>
        <p:nvSpPr>
          <p:cNvPr id="17" name="TextBox 16"/>
          <p:cNvSpPr txBox="1"/>
          <p:nvPr/>
        </p:nvSpPr>
        <p:spPr>
          <a:xfrm>
            <a:off x="4478426" y="4064444"/>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Daily and period registers, marked where the class is</a:t>
            </a:r>
          </a:p>
        </p:txBody>
      </p:sp>
      <p:sp>
        <p:nvSpPr>
          <p:cNvPr id="18" name="TextBox 17"/>
          <p:cNvSpPr txBox="1"/>
          <p:nvPr/>
        </p:nvSpPr>
        <p:spPr>
          <a:xfrm>
            <a:off x="4478426" y="4333684"/>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Absent, late, half day and approved leave held apart</a:t>
            </a:r>
          </a:p>
        </p:txBody>
      </p:sp>
      <p:sp>
        <p:nvSpPr>
          <p:cNvPr id="19" name="TextBox 18"/>
          <p:cNvSpPr txBox="1"/>
          <p:nvPr/>
        </p:nvSpPr>
        <p:spPr>
          <a:xfrm>
            <a:off x="4478426" y="4602924"/>
            <a:ext cx="3234842" cy="346456"/>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Homework with due dates, visible to parents the same evening</a:t>
            </a:r>
          </a:p>
        </p:txBody>
      </p:sp>
      <p:sp>
        <p:nvSpPr>
          <p:cNvPr id="20" name="TextBox 19"/>
          <p:cNvSpPr txBox="1"/>
          <p:nvPr/>
        </p:nvSpPr>
        <p:spPr>
          <a:xfrm>
            <a:off x="4478426" y="5036248"/>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Classwork, so a returning child can catch up</a:t>
            </a:r>
          </a:p>
        </p:txBody>
      </p:sp>
      <p:sp>
        <p:nvSpPr>
          <p:cNvPr id="21" name="TextBox 20"/>
          <p:cNvSpPr txBox="1"/>
          <p:nvPr/>
        </p:nvSpPr>
        <p:spPr>
          <a:xfrm>
            <a:off x="4478426" y="5305488"/>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Timetable and academic calendar</a:t>
            </a:r>
          </a:p>
        </p:txBody>
      </p:sp>
      <p:sp>
        <p:nvSpPr>
          <p:cNvPr id="22" name="TextBox 21"/>
          <p:cNvSpPr txBox="1"/>
          <p:nvPr/>
        </p:nvSpPr>
        <p:spPr>
          <a:xfrm>
            <a:off x="4478426" y="5574728"/>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Syllabus by chapter and topic</a:t>
            </a:r>
          </a:p>
        </p:txBody>
      </p:sp>
      <p:sp>
        <p:nvSpPr>
          <p:cNvPr id="23" name="Rectangle 22"/>
          <p:cNvSpPr/>
          <p:nvPr/>
        </p:nvSpPr>
        <p:spPr>
          <a:xfrm>
            <a:off x="8170468" y="3639312"/>
            <a:ext cx="3234842" cy="22860"/>
          </a:xfrm>
          <a:prstGeom prst="rect">
            <a:avLst/>
          </a:prstGeom>
          <a:solidFill>
            <a:srgbClr val="F0A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0468" y="3785616"/>
            <a:ext cx="3234842" cy="169100"/>
          </a:xfrm>
          <a:prstGeom prst="rect">
            <a:avLst/>
          </a:prstGeom>
          <a:noFill/>
        </p:spPr>
        <p:txBody>
          <a:bodyPr wrap="square" lIns="0" rIns="0" tIns="0" bIns="0" anchor="t">
            <a:spAutoFit/>
          </a:bodyPr>
          <a:lstStyle/>
          <a:p>
            <a:pPr algn="l">
              <a:lnSpc>
                <a:spcPts val="1187"/>
              </a:lnSpc>
            </a:pPr>
            <a:r>
              <a:rPr sz="950" spc="130">
                <a:solidFill>
                  <a:srgbClr val="0A1024"/>
                </a:solidFill>
                <a:latin typeface="Segoe UI Semibold"/>
              </a:rPr>
              <a:t>ASSESSMENT</a:t>
            </a:r>
          </a:p>
        </p:txBody>
      </p:sp>
      <p:sp>
        <p:nvSpPr>
          <p:cNvPr id="25" name="TextBox 24"/>
          <p:cNvSpPr txBox="1"/>
          <p:nvPr/>
        </p:nvSpPr>
        <p:spPr>
          <a:xfrm>
            <a:off x="8170468" y="4064444"/>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Examination schedules per class</a:t>
            </a:r>
          </a:p>
        </p:txBody>
      </p:sp>
      <p:sp>
        <p:nvSpPr>
          <p:cNvPr id="26" name="TextBox 25"/>
          <p:cNvSpPr txBox="1"/>
          <p:nvPr/>
        </p:nvSpPr>
        <p:spPr>
          <a:xfrm>
            <a:off x="8170468" y="4333684"/>
            <a:ext cx="3234842" cy="346456"/>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Marks entered against a known maximum, so an impossible score is refused</a:t>
            </a:r>
          </a:p>
        </p:txBody>
      </p:sp>
      <p:sp>
        <p:nvSpPr>
          <p:cNvPr id="27" name="TextBox 26"/>
          <p:cNvSpPr txBox="1"/>
          <p:nvPr/>
        </p:nvSpPr>
        <p:spPr>
          <a:xfrm>
            <a:off x="8170468" y="4767008"/>
            <a:ext cx="3234842" cy="346456"/>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Grading schemes applied centrally, not in each teacher's spreadsheet</a:t>
            </a:r>
          </a:p>
        </p:txBody>
      </p:sp>
      <p:sp>
        <p:nvSpPr>
          <p:cNvPr id="28" name="TextBox 27"/>
          <p:cNvSpPr txBox="1"/>
          <p:nvPr/>
        </p:nvSpPr>
        <p:spPr>
          <a:xfrm>
            <a:off x="8170468" y="5200332"/>
            <a:ext cx="3234842" cy="346456"/>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Results computed, then held until an administrator publishes them</a:t>
            </a:r>
          </a:p>
        </p:txBody>
      </p:sp>
      <p:sp>
        <p:nvSpPr>
          <p:cNvPr id="29" name="TextBox 28"/>
          <p:cNvSpPr txBox="1"/>
          <p:nvPr/>
        </p:nvSpPr>
        <p:spPr>
          <a:xfrm>
            <a:off x="8170468" y="5633656"/>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Report cards generated per student or per section</a:t>
            </a:r>
          </a:p>
        </p:txBody>
      </p:sp>
      <p:sp>
        <p:nvSpPr>
          <p:cNvPr id="30" name="TextBox 29"/>
          <p:cNvSpPr txBox="1"/>
          <p:nvPr/>
        </p:nvSpPr>
        <p:spPr>
          <a:xfrm>
            <a:off x="8170468" y="5902896"/>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Bonafide, transfer and character certificates</a:t>
            </a:r>
          </a:p>
        </p:txBody>
      </p:sp>
      <p:sp>
        <p:nvSpPr>
          <p:cNvPr id="32" name="Rounded Rectangle 31"/>
          <p:cNvSpPr/>
          <p:nvPr/>
        </p:nvSpPr>
        <p:spPr>
          <a:xfrm>
            <a:off x="6922008" y="960120"/>
            <a:ext cx="4535424" cy="2005521"/>
          </a:xfrm>
          <a:prstGeom prst="roundRect">
            <a:avLst>
              <a:gd name="adj" fmla="val 1799"/>
            </a:avLst>
          </a:prstGeom>
          <a:solidFill>
            <a:srgbClr val="FFFFFF"/>
          </a:solidFill>
          <a:ln w="9525">
            <a:solidFill>
              <a:srgbClr val="DFE3EC"/>
            </a:solidFill>
          </a:ln>
          <a:effectLst>
            <a:outerShdw blurRad="457200" dist="165100" dir="5400000" rotWithShape="0">
              <a:srgbClr val="0A1024">
                <a:alpha val="1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attendance.png"/>
          <p:cNvPicPr>
            <a:picLocks noChangeAspect="1"/>
          </p:cNvPicPr>
          <p:nvPr/>
        </p:nvPicPr>
        <p:blipFill>
          <a:blip r:embed="rId3"/>
          <a:srcRect l="15700" t="5000" r="500" b="40000"/>
          <a:stretch>
            <a:fillRect/>
          </a:stretch>
        </p:blipFill>
        <p:spPr>
          <a:xfrm>
            <a:off x="6967728" y="1005840"/>
            <a:ext cx="4443984" cy="1914081"/>
          </a:xfrm>
          <a:prstGeom prst="rect">
            <a:avLst/>
          </a:prstGeom>
        </p:spPr>
      </p:pic>
      <p:sp>
        <p:nvSpPr>
          <p:cNvPr id="33" name="TextBox 32"/>
          <p:cNvSpPr txBox="1"/>
          <p:nvPr/>
        </p:nvSpPr>
        <p:spPr>
          <a:xfrm>
            <a:off x="6967728" y="3075369"/>
            <a:ext cx="4443984" cy="175133"/>
          </a:xfrm>
          <a:prstGeom prst="rect">
            <a:avLst/>
          </a:prstGeom>
          <a:noFill/>
        </p:spPr>
        <p:txBody>
          <a:bodyPr wrap="square" lIns="0" rIns="0" tIns="0" bIns="0" anchor="t">
            <a:spAutoFit/>
          </a:bodyPr>
          <a:lstStyle/>
          <a:p>
            <a:pPr algn="l">
              <a:lnSpc>
                <a:spcPts val="1235"/>
              </a:lnSpc>
            </a:pPr>
            <a:r>
              <a:rPr sz="950">
                <a:solidFill>
                  <a:srgbClr val="8A92A3"/>
                </a:solidFill>
                <a:latin typeface="Segoe UI"/>
              </a:rPr>
              <a:t>The daily register.</a:t>
            </a:r>
          </a:p>
        </p:txBody>
      </p:sp>
      <p:sp>
        <p:nvSpPr>
          <p:cNvPr id="34" name="TextBox 33"/>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42415"/>
            <a:ext cx="6400800" cy="191643"/>
          </a:xfrm>
          <a:prstGeom prst="rect">
            <a:avLst/>
          </a:prstGeom>
          <a:noFill/>
        </p:spPr>
        <p:txBody>
          <a:bodyPr wrap="square" lIns="0" rIns="0" tIns="0" bIns="0" anchor="t">
            <a:spAutoFit/>
          </a:bodyPr>
          <a:lstStyle/>
          <a:p>
            <a:pPr algn="l">
              <a:lnSpc>
                <a:spcPts val="1365"/>
              </a:lnSpc>
            </a:pPr>
            <a:r>
              <a:rPr sz="1050" spc="180">
                <a:solidFill>
                  <a:srgbClr val="F0A63C"/>
                </a:solidFill>
                <a:latin typeface="Segoe UI Semibold"/>
              </a:rPr>
              <a:t>FOR TEACHERS</a:t>
            </a:r>
          </a:p>
        </p:txBody>
      </p:sp>
      <p:sp>
        <p:nvSpPr>
          <p:cNvPr id="5" name="TextBox 4"/>
          <p:cNvSpPr txBox="1"/>
          <p:nvPr/>
        </p:nvSpPr>
        <p:spPr>
          <a:xfrm>
            <a:off x="786384" y="1398650"/>
            <a:ext cx="4114800" cy="868680"/>
          </a:xfrm>
          <a:prstGeom prst="rect">
            <a:avLst/>
          </a:prstGeom>
          <a:noFill/>
        </p:spPr>
        <p:txBody>
          <a:bodyPr wrap="square" lIns="0" rIns="0" tIns="0" bIns="0" anchor="t">
            <a:spAutoFit/>
          </a:bodyPr>
          <a:lstStyle/>
          <a:p>
            <a:pPr algn="l">
              <a:lnSpc>
                <a:spcPts val="3348"/>
              </a:lnSpc>
            </a:pPr>
            <a:r>
              <a:rPr sz="3100">
                <a:solidFill>
                  <a:srgbClr val="0A1024"/>
                </a:solidFill>
                <a:latin typeface="Segoe UI Semibold"/>
              </a:rPr>
              <a:t>Give teachers back the evening.</a:t>
            </a:r>
          </a:p>
        </p:txBody>
      </p:sp>
      <p:sp>
        <p:nvSpPr>
          <p:cNvPr id="6" name="TextBox 5"/>
          <p:cNvSpPr txBox="1"/>
          <p:nvPr/>
        </p:nvSpPr>
        <p:spPr>
          <a:xfrm>
            <a:off x="786384" y="2505074"/>
            <a:ext cx="4114800" cy="630174"/>
          </a:xfrm>
          <a:prstGeom prst="rect">
            <a:avLst/>
          </a:prstGeom>
          <a:noFill/>
        </p:spPr>
        <p:txBody>
          <a:bodyPr wrap="square" lIns="0" rIns="0" tIns="0" bIns="0" anchor="t">
            <a:spAutoFit/>
          </a:bodyPr>
          <a:lstStyle/>
          <a:p>
            <a:pPr algn="l">
              <a:lnSpc>
                <a:spcPts val="1605"/>
              </a:lnSpc>
            </a:pPr>
            <a:r>
              <a:rPr sz="1100">
                <a:solidFill>
                  <a:srgbClr val="535B6E"/>
                </a:solidFill>
                <a:latin typeface="Segoe UI"/>
              </a:rPr>
              <a:t>Registers marked in the classroom, papers built from your own syllabus, marks entered once. Nothing collected on paper first and typed in later.</a:t>
            </a:r>
          </a:p>
        </p:txBody>
      </p:sp>
      <p:sp>
        <p:nvSpPr>
          <p:cNvPr id="8" name="Rounded Rectangle 7"/>
          <p:cNvSpPr/>
          <p:nvPr/>
        </p:nvSpPr>
        <p:spPr>
          <a:xfrm>
            <a:off x="5294376" y="996695"/>
            <a:ext cx="6153912" cy="2769318"/>
          </a:xfrm>
          <a:prstGeom prst="roundRect">
            <a:avLst>
              <a:gd name="adj" fmla="val 1799"/>
            </a:avLst>
          </a:prstGeom>
          <a:solidFill>
            <a:srgbClr val="FFFFFF"/>
          </a:solidFill>
          <a:ln w="9525">
            <a:solidFill>
              <a:srgbClr val="DFE3EC"/>
            </a:solidFill>
          </a:ln>
          <a:effectLst>
            <a:outerShdw blurRad="457200" dist="165100" dir="5400000" rotWithShape="0">
              <a:srgbClr val="0A1024">
                <a:alpha val="1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per.png"/>
          <p:cNvPicPr>
            <a:picLocks noChangeAspect="1"/>
          </p:cNvPicPr>
          <p:nvPr/>
        </p:nvPicPr>
        <p:blipFill>
          <a:blip r:embed="rId3"/>
          <a:srcRect l="15700" t="5000" r="500" b="43500"/>
          <a:stretch>
            <a:fillRect/>
          </a:stretch>
        </p:blipFill>
        <p:spPr>
          <a:xfrm>
            <a:off x="5340096" y="1042415"/>
            <a:ext cx="6062472" cy="2677878"/>
          </a:xfrm>
          <a:prstGeom prst="rect">
            <a:avLst/>
          </a:prstGeom>
        </p:spPr>
      </p:pic>
      <p:sp>
        <p:nvSpPr>
          <p:cNvPr id="9" name="TextBox 8"/>
          <p:cNvSpPr txBox="1"/>
          <p:nvPr/>
        </p:nvSpPr>
        <p:spPr>
          <a:xfrm>
            <a:off x="5340096" y="3875741"/>
            <a:ext cx="6062472" cy="175133"/>
          </a:xfrm>
          <a:prstGeom prst="rect">
            <a:avLst/>
          </a:prstGeom>
          <a:noFill/>
        </p:spPr>
        <p:txBody>
          <a:bodyPr wrap="square" lIns="0" rIns="0" tIns="0" bIns="0" anchor="t">
            <a:spAutoFit/>
          </a:bodyPr>
          <a:lstStyle/>
          <a:p>
            <a:pPr algn="l">
              <a:lnSpc>
                <a:spcPts val="1235"/>
              </a:lnSpc>
            </a:pPr>
            <a:r>
              <a:rPr sz="950">
                <a:solidFill>
                  <a:srgbClr val="8A92A3"/>
                </a:solidFill>
                <a:latin typeface="Segoe UI"/>
              </a:rPr>
              <a:t>The paper builder: 40 of 40 marks placed, 17 questions, difficulty mix shown.</a:t>
            </a:r>
          </a:p>
        </p:txBody>
      </p:sp>
      <p:sp>
        <p:nvSpPr>
          <p:cNvPr id="10" name="Rectangle 9"/>
          <p:cNvSpPr/>
          <p:nvPr/>
        </p:nvSpPr>
        <p:spPr>
          <a:xfrm>
            <a:off x="786384" y="4261104"/>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4389120"/>
            <a:ext cx="3222650" cy="183133"/>
          </a:xfrm>
          <a:prstGeom prst="rect">
            <a:avLst/>
          </a:prstGeom>
          <a:noFill/>
        </p:spPr>
        <p:txBody>
          <a:bodyPr wrap="square" lIns="0" rIns="0" tIns="0" bIns="0" anchor="t">
            <a:spAutoFit/>
          </a:bodyPr>
          <a:lstStyle/>
          <a:p>
            <a:pPr algn="l">
              <a:lnSpc>
                <a:spcPts val="1297"/>
              </a:lnSpc>
            </a:pPr>
            <a:r>
              <a:rPr sz="1100">
                <a:solidFill>
                  <a:srgbClr val="0A1024"/>
                </a:solidFill>
                <a:latin typeface="Segoe UI Semibold"/>
              </a:rPr>
              <a:t>A question bank the school keeps</a:t>
            </a:r>
          </a:p>
        </p:txBody>
      </p:sp>
      <p:sp>
        <p:nvSpPr>
          <p:cNvPr id="12" name="TextBox 11"/>
          <p:cNvSpPr txBox="1"/>
          <p:nvPr/>
        </p:nvSpPr>
        <p:spPr>
          <a:xfrm>
            <a:off x="786384" y="4604257"/>
            <a:ext cx="3222650" cy="329184"/>
          </a:xfrm>
          <a:prstGeom prst="rect">
            <a:avLst/>
          </a:prstGeom>
          <a:noFill/>
        </p:spPr>
        <p:txBody>
          <a:bodyPr wrap="square" lIns="0" rIns="0" tIns="0" bIns="0" anchor="t">
            <a:spAutoFit/>
          </a:bodyPr>
          <a:lstStyle/>
          <a:p>
            <a:pPr algn="l">
              <a:lnSpc>
                <a:spcPts val="1224"/>
              </a:lnSpc>
            </a:pPr>
            <a:r>
              <a:rPr sz="900">
                <a:solidFill>
                  <a:srgbClr val="535B6E"/>
                </a:solidFill>
                <a:latin typeface="Segoe UI"/>
              </a:rPr>
              <a:t>Questions by subject, chapter, type and difficulty, reviewed and approved once and reusable every year after.</a:t>
            </a:r>
          </a:p>
        </p:txBody>
      </p:sp>
      <p:sp>
        <p:nvSpPr>
          <p:cNvPr id="13" name="Rectangle 12"/>
          <p:cNvSpPr/>
          <p:nvPr/>
        </p:nvSpPr>
        <p:spPr>
          <a:xfrm>
            <a:off x="4484522" y="4261104"/>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4522" y="4389120"/>
            <a:ext cx="3222650" cy="183133"/>
          </a:xfrm>
          <a:prstGeom prst="rect">
            <a:avLst/>
          </a:prstGeom>
          <a:noFill/>
        </p:spPr>
        <p:txBody>
          <a:bodyPr wrap="square" lIns="0" rIns="0" tIns="0" bIns="0" anchor="t">
            <a:spAutoFit/>
          </a:bodyPr>
          <a:lstStyle/>
          <a:p>
            <a:pPr algn="l">
              <a:lnSpc>
                <a:spcPts val="1297"/>
              </a:lnSpc>
            </a:pPr>
            <a:r>
              <a:rPr sz="1100">
                <a:solidFill>
                  <a:srgbClr val="0A1024"/>
                </a:solidFill>
                <a:latin typeface="Segoe UI Semibold"/>
              </a:rPr>
              <a:t>Papers built section by section</a:t>
            </a:r>
          </a:p>
        </p:txBody>
      </p:sp>
      <p:sp>
        <p:nvSpPr>
          <p:cNvPr id="15" name="TextBox 14"/>
          <p:cNvSpPr txBox="1"/>
          <p:nvPr/>
        </p:nvSpPr>
        <p:spPr>
          <a:xfrm>
            <a:off x="4484522" y="4604257"/>
            <a:ext cx="3222650" cy="484632"/>
          </a:xfrm>
          <a:prstGeom prst="rect">
            <a:avLst/>
          </a:prstGeom>
          <a:noFill/>
        </p:spPr>
        <p:txBody>
          <a:bodyPr wrap="square" lIns="0" rIns="0" tIns="0" bIns="0" anchor="t">
            <a:spAutoFit/>
          </a:bodyPr>
          <a:lstStyle/>
          <a:p>
            <a:pPr algn="l">
              <a:lnSpc>
                <a:spcPts val="1224"/>
              </a:lnSpc>
            </a:pPr>
            <a:r>
              <a:rPr sz="900">
                <a:solidFill>
                  <a:srgbClr val="535B6E"/>
                </a:solidFill>
                <a:latin typeface="Segoe UI"/>
              </a:rPr>
              <a:t>Marks total as questions are placed, with the easy, medium and hard mix shown as you build. Fourteen test types, from a daily test to a pre-board.</a:t>
            </a:r>
          </a:p>
        </p:txBody>
      </p:sp>
      <p:sp>
        <p:nvSpPr>
          <p:cNvPr id="16" name="Rectangle 15"/>
          <p:cNvSpPr/>
          <p:nvPr/>
        </p:nvSpPr>
        <p:spPr>
          <a:xfrm>
            <a:off x="8182660" y="4261104"/>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2660" y="4389120"/>
            <a:ext cx="3222650" cy="183133"/>
          </a:xfrm>
          <a:prstGeom prst="rect">
            <a:avLst/>
          </a:prstGeom>
          <a:noFill/>
        </p:spPr>
        <p:txBody>
          <a:bodyPr wrap="square" lIns="0" rIns="0" tIns="0" bIns="0" anchor="t">
            <a:spAutoFit/>
          </a:bodyPr>
          <a:lstStyle/>
          <a:p>
            <a:pPr algn="l">
              <a:lnSpc>
                <a:spcPts val="1297"/>
              </a:lnSpc>
            </a:pPr>
            <a:r>
              <a:rPr sz="1100">
                <a:solidFill>
                  <a:srgbClr val="0A1024"/>
                </a:solidFill>
                <a:latin typeface="Segoe UI Semibold"/>
              </a:rPr>
              <a:t>Drafts generated from your published syllabus</a:t>
            </a:r>
          </a:p>
        </p:txBody>
      </p:sp>
      <p:sp>
        <p:nvSpPr>
          <p:cNvPr id="18" name="TextBox 17"/>
          <p:cNvSpPr txBox="1"/>
          <p:nvPr/>
        </p:nvSpPr>
        <p:spPr>
          <a:xfrm>
            <a:off x="8182660" y="4604257"/>
            <a:ext cx="3222650" cy="484632"/>
          </a:xfrm>
          <a:prstGeom prst="rect">
            <a:avLst/>
          </a:prstGeom>
          <a:noFill/>
        </p:spPr>
        <p:txBody>
          <a:bodyPr wrap="square" lIns="0" rIns="0" tIns="0" bIns="0" anchor="t">
            <a:spAutoFit/>
          </a:bodyPr>
          <a:lstStyle/>
          <a:p>
            <a:pPr algn="l">
              <a:lnSpc>
                <a:spcPts val="1224"/>
              </a:lnSpc>
            </a:pPr>
            <a:r>
              <a:rPr sz="900">
                <a:solidFill>
                  <a:srgbClr val="535B6E"/>
                </a:solidFill>
                <a:latin typeface="Segoe UI"/>
              </a:rPr>
              <a:t>Generated questions arrive as drafts against your own chapters and topics. They cannot reach a paper until a teacher approves them.</a:t>
            </a:r>
          </a:p>
        </p:txBody>
      </p:sp>
      <p:sp>
        <p:nvSpPr>
          <p:cNvPr id="19" name="Rectangle 18"/>
          <p:cNvSpPr/>
          <p:nvPr/>
        </p:nvSpPr>
        <p:spPr>
          <a:xfrm>
            <a:off x="786384" y="5381497"/>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5509513"/>
            <a:ext cx="3222650" cy="183133"/>
          </a:xfrm>
          <a:prstGeom prst="rect">
            <a:avLst/>
          </a:prstGeom>
          <a:noFill/>
        </p:spPr>
        <p:txBody>
          <a:bodyPr wrap="square" lIns="0" rIns="0" tIns="0" bIns="0" anchor="t">
            <a:spAutoFit/>
          </a:bodyPr>
          <a:lstStyle/>
          <a:p>
            <a:pPr algn="l">
              <a:lnSpc>
                <a:spcPts val="1297"/>
              </a:lnSpc>
            </a:pPr>
            <a:r>
              <a:rPr sz="1100">
                <a:solidFill>
                  <a:srgbClr val="0A1024"/>
                </a:solidFill>
                <a:latin typeface="Segoe UI Semibold"/>
              </a:rPr>
              <a:t>Set online or print it</a:t>
            </a:r>
          </a:p>
        </p:txBody>
      </p:sp>
      <p:sp>
        <p:nvSpPr>
          <p:cNvPr id="21" name="TextBox 20"/>
          <p:cNvSpPr txBox="1"/>
          <p:nvPr/>
        </p:nvSpPr>
        <p:spPr>
          <a:xfrm>
            <a:off x="786384" y="5724650"/>
            <a:ext cx="3222650" cy="329184"/>
          </a:xfrm>
          <a:prstGeom prst="rect">
            <a:avLst/>
          </a:prstGeom>
          <a:noFill/>
        </p:spPr>
        <p:txBody>
          <a:bodyPr wrap="square" lIns="0" rIns="0" tIns="0" bIns="0" anchor="t">
            <a:spAutoFit/>
          </a:bodyPr>
          <a:lstStyle/>
          <a:p>
            <a:pPr algn="l">
              <a:lnSpc>
                <a:spcPts val="1224"/>
              </a:lnSpc>
            </a:pPr>
            <a:r>
              <a:rPr sz="900">
                <a:solidFill>
                  <a:srgbClr val="535B6E"/>
                </a:solidFill>
                <a:latin typeface="Segoe UI"/>
              </a:rPr>
              <a:t>Assign to a section with a window, or print the paper. Objective answers mark themselves; the rest get a marking sheet.</a:t>
            </a:r>
          </a:p>
        </p:txBody>
      </p:sp>
      <p:sp>
        <p:nvSpPr>
          <p:cNvPr id="22" name="Rectangle 21"/>
          <p:cNvSpPr/>
          <p:nvPr/>
        </p:nvSpPr>
        <p:spPr>
          <a:xfrm>
            <a:off x="4484522" y="5381497"/>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4522" y="5509513"/>
            <a:ext cx="3222650" cy="183133"/>
          </a:xfrm>
          <a:prstGeom prst="rect">
            <a:avLst/>
          </a:prstGeom>
          <a:noFill/>
        </p:spPr>
        <p:txBody>
          <a:bodyPr wrap="square" lIns="0" rIns="0" tIns="0" bIns="0" anchor="t">
            <a:spAutoFit/>
          </a:bodyPr>
          <a:lstStyle/>
          <a:p>
            <a:pPr algn="l">
              <a:lnSpc>
                <a:spcPts val="1297"/>
              </a:lnSpc>
            </a:pPr>
            <a:r>
              <a:rPr sz="1100">
                <a:solidFill>
                  <a:srgbClr val="0A1024"/>
                </a:solidFill>
                <a:latin typeface="Segoe UI Semibold"/>
              </a:rPr>
              <a:t>Per-question analytics after the test</a:t>
            </a:r>
          </a:p>
        </p:txBody>
      </p:sp>
      <p:sp>
        <p:nvSpPr>
          <p:cNvPr id="24" name="TextBox 23"/>
          <p:cNvSpPr txBox="1"/>
          <p:nvPr/>
        </p:nvSpPr>
        <p:spPr>
          <a:xfrm>
            <a:off x="4484522" y="5724650"/>
            <a:ext cx="3222650" cy="329184"/>
          </a:xfrm>
          <a:prstGeom prst="rect">
            <a:avLst/>
          </a:prstGeom>
          <a:noFill/>
        </p:spPr>
        <p:txBody>
          <a:bodyPr wrap="square" lIns="0" rIns="0" tIns="0" bIns="0" anchor="t">
            <a:spAutoFit/>
          </a:bodyPr>
          <a:lstStyle/>
          <a:p>
            <a:pPr algn="l">
              <a:lnSpc>
                <a:spcPts val="1224"/>
              </a:lnSpc>
            </a:pPr>
            <a:r>
              <a:rPr sz="900">
                <a:solidFill>
                  <a:srgbClr val="535B6E"/>
                </a:solidFill>
                <a:latin typeface="Segoe UI"/>
              </a:rPr>
              <a:t>Which questions the class actually failed, before the next lesson is planned.</a:t>
            </a:r>
          </a:p>
        </p:txBody>
      </p:sp>
      <p:sp>
        <p:nvSpPr>
          <p:cNvPr id="25" name="Rectangle 24"/>
          <p:cNvSpPr/>
          <p:nvPr/>
        </p:nvSpPr>
        <p:spPr>
          <a:xfrm>
            <a:off x="8182660" y="5381497"/>
            <a:ext cx="3222650"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2660" y="5509513"/>
            <a:ext cx="3222650" cy="183133"/>
          </a:xfrm>
          <a:prstGeom prst="rect">
            <a:avLst/>
          </a:prstGeom>
          <a:noFill/>
        </p:spPr>
        <p:txBody>
          <a:bodyPr wrap="square" lIns="0" rIns="0" tIns="0" bIns="0" anchor="t">
            <a:spAutoFit/>
          </a:bodyPr>
          <a:lstStyle/>
          <a:p>
            <a:pPr algn="l">
              <a:lnSpc>
                <a:spcPts val="1297"/>
              </a:lnSpc>
            </a:pPr>
            <a:r>
              <a:rPr sz="1100">
                <a:solidFill>
                  <a:srgbClr val="0A1024"/>
                </a:solidFill>
                <a:latin typeface="Segoe UI Semibold"/>
              </a:rPr>
              <a:t>Their own classes, and nobody else's</a:t>
            </a:r>
          </a:p>
        </p:txBody>
      </p:sp>
      <p:sp>
        <p:nvSpPr>
          <p:cNvPr id="27" name="TextBox 26"/>
          <p:cNvSpPr txBox="1"/>
          <p:nvPr/>
        </p:nvSpPr>
        <p:spPr>
          <a:xfrm>
            <a:off x="8182660" y="5724650"/>
            <a:ext cx="3222650" cy="484632"/>
          </a:xfrm>
          <a:prstGeom prst="rect">
            <a:avLst/>
          </a:prstGeom>
          <a:noFill/>
        </p:spPr>
        <p:txBody>
          <a:bodyPr wrap="square" lIns="0" rIns="0" tIns="0" bIns="0" anchor="t">
            <a:spAutoFit/>
          </a:bodyPr>
          <a:lstStyle/>
          <a:p>
            <a:pPr algn="l">
              <a:lnSpc>
                <a:spcPts val="1224"/>
              </a:lnSpc>
            </a:pPr>
            <a:r>
              <a:rPr sz="900">
                <a:solidFill>
                  <a:srgbClr val="535B6E"/>
                </a:solidFill>
                <a:latin typeface="Segoe UI"/>
              </a:rPr>
              <a:t>Registers, homework and marks are scoped to what each teacher teaches — enforced by the server, not by hiding a menu.</a:t>
            </a:r>
          </a:p>
        </p:txBody>
      </p:sp>
      <p:sp>
        <p:nvSpPr>
          <p:cNvPr id="28" name="TextBox 27"/>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42415"/>
            <a:ext cx="6400800" cy="191643"/>
          </a:xfrm>
          <a:prstGeom prst="rect">
            <a:avLst/>
          </a:prstGeom>
          <a:noFill/>
        </p:spPr>
        <p:txBody>
          <a:bodyPr wrap="square" lIns="0" rIns="0" tIns="0" bIns="0" anchor="t">
            <a:spAutoFit/>
          </a:bodyPr>
          <a:lstStyle/>
          <a:p>
            <a:pPr algn="l">
              <a:lnSpc>
                <a:spcPts val="1365"/>
              </a:lnSpc>
            </a:pPr>
            <a:r>
              <a:rPr sz="1050" spc="180">
                <a:solidFill>
                  <a:srgbClr val="2FB573"/>
                </a:solidFill>
                <a:latin typeface="Segoe UI Semibold"/>
              </a:rPr>
              <a:t>ENGAGEMENT</a:t>
            </a:r>
          </a:p>
        </p:txBody>
      </p:sp>
      <p:sp>
        <p:nvSpPr>
          <p:cNvPr id="5" name="TextBox 4"/>
          <p:cNvSpPr txBox="1"/>
          <p:nvPr/>
        </p:nvSpPr>
        <p:spPr>
          <a:xfrm>
            <a:off x="786384" y="1398650"/>
            <a:ext cx="5486400" cy="868680"/>
          </a:xfrm>
          <a:prstGeom prst="rect">
            <a:avLst/>
          </a:prstGeom>
          <a:noFill/>
        </p:spPr>
        <p:txBody>
          <a:bodyPr wrap="square" lIns="0" rIns="0" tIns="0" bIns="0" anchor="t">
            <a:spAutoFit/>
          </a:bodyPr>
          <a:lstStyle/>
          <a:p>
            <a:pPr algn="l">
              <a:lnSpc>
                <a:spcPts val="3348"/>
              </a:lnSpc>
            </a:pPr>
            <a:r>
              <a:rPr sz="3100">
                <a:solidFill>
                  <a:srgbClr val="0A1024"/>
                </a:solidFill>
                <a:latin typeface="Segoe UI Semibold"/>
              </a:rPr>
              <a:t>The office stops answering</a:t>
            </a:r>
          </a:p>
          <a:p>
            <a:pPr algn="l">
              <a:lnSpc>
                <a:spcPts val="3348"/>
              </a:lnSpc>
            </a:pPr>
            <a:r>
              <a:rPr sz="3100">
                <a:solidFill>
                  <a:srgbClr val="0A1024"/>
                </a:solidFill>
                <a:latin typeface="Segoe UI Semibold"/>
              </a:rPr>
              <a:t>the same three questions.</a:t>
            </a:r>
          </a:p>
        </p:txBody>
      </p:sp>
      <p:sp>
        <p:nvSpPr>
          <p:cNvPr id="6" name="TextBox 5"/>
          <p:cNvSpPr txBox="1"/>
          <p:nvPr/>
        </p:nvSpPr>
        <p:spPr>
          <a:xfrm>
            <a:off x="786384" y="2486786"/>
            <a:ext cx="4754880" cy="444753"/>
          </a:xfrm>
          <a:prstGeom prst="rect">
            <a:avLst/>
          </a:prstGeom>
          <a:noFill/>
        </p:spPr>
        <p:txBody>
          <a:bodyPr wrap="square" lIns="0" rIns="0" tIns="0" bIns="0" anchor="t">
            <a:spAutoFit/>
          </a:bodyPr>
          <a:lstStyle/>
          <a:p>
            <a:pPr algn="l">
              <a:lnSpc>
                <a:spcPts val="1679"/>
              </a:lnSpc>
            </a:pPr>
            <a:r>
              <a:rPr sz="1150">
                <a:solidFill>
                  <a:srgbClr val="535B6E"/>
                </a:solidFill>
                <a:latin typeface="Segoe UI"/>
              </a:rPr>
              <a:t>Was she marked present. What is the homework. How much is left to pay. Parents can see their own children and nothing else.</a:t>
            </a:r>
          </a:p>
        </p:txBody>
      </p:sp>
      <p:sp>
        <p:nvSpPr>
          <p:cNvPr id="7" name="Rounded Rectangle 6"/>
          <p:cNvSpPr/>
          <p:nvPr/>
        </p:nvSpPr>
        <p:spPr>
          <a:xfrm>
            <a:off x="493776" y="3310128"/>
            <a:ext cx="3712464" cy="2761488"/>
          </a:xfrm>
          <a:prstGeom prst="roundRect">
            <a:avLst>
              <a:gd name="adj" fmla="val 5500"/>
            </a:avLst>
          </a:prstGeom>
          <a:solidFill>
            <a:srgbClr val="FFFFFF"/>
          </a:solidFill>
          <a:ln w="9525">
            <a:solidFill>
              <a:srgbClr val="DFE3EC"/>
            </a:solidFill>
          </a:ln>
          <a:effectLst>
            <a:outerShdw blurRad="279400" dist="88900" dir="5400000" rotWithShape="0">
              <a:srgbClr val="0A1024">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3566160"/>
            <a:ext cx="3127248" cy="169100"/>
          </a:xfrm>
          <a:prstGeom prst="rect">
            <a:avLst/>
          </a:prstGeom>
          <a:noFill/>
        </p:spPr>
        <p:txBody>
          <a:bodyPr wrap="square" lIns="0" rIns="0" tIns="0" bIns="0" anchor="t">
            <a:spAutoFit/>
          </a:bodyPr>
          <a:lstStyle/>
          <a:p>
            <a:pPr algn="l">
              <a:lnSpc>
                <a:spcPts val="1187"/>
              </a:lnSpc>
            </a:pPr>
            <a:r>
              <a:rPr sz="950" spc="130">
                <a:solidFill>
                  <a:srgbClr val="6C4BF4"/>
                </a:solidFill>
                <a:latin typeface="Segoe UI Semibold"/>
              </a:rPr>
              <a:t>WHAT A PARENT OPENS ON THEIR PHONE</a:t>
            </a:r>
          </a:p>
        </p:txBody>
      </p:sp>
      <p:sp>
        <p:nvSpPr>
          <p:cNvPr id="9" name="Oval 8"/>
          <p:cNvSpPr/>
          <p:nvPr/>
        </p:nvSpPr>
        <p:spPr>
          <a:xfrm>
            <a:off x="786384" y="3934383"/>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881564"/>
            <a:ext cx="2944368" cy="175133"/>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Attendance, day by day</a:t>
            </a:r>
          </a:p>
        </p:txBody>
      </p:sp>
      <p:sp>
        <p:nvSpPr>
          <p:cNvPr id="11" name="Oval 10"/>
          <p:cNvSpPr/>
          <p:nvPr/>
        </p:nvSpPr>
        <p:spPr>
          <a:xfrm>
            <a:off x="786384" y="4182668"/>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129849"/>
            <a:ext cx="2944368" cy="175133"/>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Homework and classwork</a:t>
            </a:r>
          </a:p>
        </p:txBody>
      </p:sp>
      <p:sp>
        <p:nvSpPr>
          <p:cNvPr id="13" name="Oval 12"/>
          <p:cNvSpPr/>
          <p:nvPr/>
        </p:nvSpPr>
        <p:spPr>
          <a:xfrm>
            <a:off x="786384" y="4430953"/>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378134"/>
            <a:ext cx="2944368" cy="175133"/>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Fee balance and receipts</a:t>
            </a:r>
          </a:p>
        </p:txBody>
      </p:sp>
      <p:sp>
        <p:nvSpPr>
          <p:cNvPr id="15" name="Oval 14"/>
          <p:cNvSpPr/>
          <p:nvPr/>
        </p:nvSpPr>
        <p:spPr>
          <a:xfrm>
            <a:off x="786384" y="4679238"/>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626419"/>
            <a:ext cx="2944368" cy="175133"/>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Results and report cards</a:t>
            </a:r>
          </a:p>
        </p:txBody>
      </p:sp>
      <p:sp>
        <p:nvSpPr>
          <p:cNvPr id="17" name="Oval 16"/>
          <p:cNvSpPr/>
          <p:nvPr/>
        </p:nvSpPr>
        <p:spPr>
          <a:xfrm>
            <a:off x="786384" y="4927523"/>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874704"/>
            <a:ext cx="2944368" cy="175133"/>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Notices from the school</a:t>
            </a:r>
          </a:p>
        </p:txBody>
      </p:sp>
      <p:sp>
        <p:nvSpPr>
          <p:cNvPr id="19" name="Oval 18"/>
          <p:cNvSpPr/>
          <p:nvPr/>
        </p:nvSpPr>
        <p:spPr>
          <a:xfrm>
            <a:off x="786384" y="5175808"/>
            <a:ext cx="50292" cy="50292"/>
          </a:xfrm>
          <a:prstGeom prst="ellipse">
            <a:avLst/>
          </a:prstGeom>
          <a:solidFill>
            <a:srgbClr val="6C4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122989"/>
            <a:ext cx="2944368" cy="175133"/>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Their child's bus, live, with the next stop</a:t>
            </a:r>
          </a:p>
        </p:txBody>
      </p:sp>
      <p:sp>
        <p:nvSpPr>
          <p:cNvPr id="21" name="Rounded Rectangle 20"/>
          <p:cNvSpPr/>
          <p:nvPr/>
        </p:nvSpPr>
        <p:spPr>
          <a:xfrm>
            <a:off x="4224528" y="3310128"/>
            <a:ext cx="3712464" cy="2761488"/>
          </a:xfrm>
          <a:prstGeom prst="roundRect">
            <a:avLst>
              <a:gd name="adj" fmla="val 5500"/>
            </a:avLst>
          </a:prstGeom>
          <a:solidFill>
            <a:srgbClr val="FFFFFF"/>
          </a:solidFill>
          <a:ln w="9525">
            <a:solidFill>
              <a:srgbClr val="DFE3EC"/>
            </a:solidFill>
          </a:ln>
          <a:effectLst>
            <a:outerShdw blurRad="279400" dist="88900" dir="5400000" rotWithShape="0">
              <a:srgbClr val="0A1024">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17136" y="3566160"/>
            <a:ext cx="3127248" cy="169100"/>
          </a:xfrm>
          <a:prstGeom prst="rect">
            <a:avLst/>
          </a:prstGeom>
          <a:noFill/>
        </p:spPr>
        <p:txBody>
          <a:bodyPr wrap="square" lIns="0" rIns="0" tIns="0" bIns="0" anchor="t">
            <a:spAutoFit/>
          </a:bodyPr>
          <a:lstStyle/>
          <a:p>
            <a:pPr algn="l">
              <a:lnSpc>
                <a:spcPts val="1187"/>
              </a:lnSpc>
            </a:pPr>
            <a:r>
              <a:rPr sz="950" spc="130">
                <a:solidFill>
                  <a:srgbClr val="2FB573"/>
                </a:solidFill>
                <a:latin typeface="Segoe UI Semibold"/>
              </a:rPr>
              <a:t>360° FEEDBACK, RUN AS A CYCLE</a:t>
            </a:r>
          </a:p>
        </p:txBody>
      </p:sp>
      <p:sp>
        <p:nvSpPr>
          <p:cNvPr id="23" name="Oval 22"/>
          <p:cNvSpPr/>
          <p:nvPr/>
        </p:nvSpPr>
        <p:spPr>
          <a:xfrm>
            <a:off x="4517136" y="3934383"/>
            <a:ext cx="50292" cy="50292"/>
          </a:xfrm>
          <a:prstGeom prst="ellipse">
            <a:avLst/>
          </a:prstGeom>
          <a:solidFill>
            <a:srgbClr val="2FB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0016" y="3881564"/>
            <a:ext cx="2944368" cy="331978"/>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Campaigns to students, parents or staff, on a schedule the school sets</a:t>
            </a:r>
          </a:p>
        </p:txBody>
      </p:sp>
      <p:sp>
        <p:nvSpPr>
          <p:cNvPr id="25" name="Oval 24"/>
          <p:cNvSpPr/>
          <p:nvPr/>
        </p:nvSpPr>
        <p:spPr>
          <a:xfrm>
            <a:off x="4517136" y="4339513"/>
            <a:ext cx="50292" cy="50292"/>
          </a:xfrm>
          <a:prstGeom prst="ellipse">
            <a:avLst/>
          </a:prstGeom>
          <a:solidFill>
            <a:srgbClr val="2FB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0016" y="4286694"/>
            <a:ext cx="2944368" cy="331978"/>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Anonymous to the teacher, and withheld until a minimum number of responses</a:t>
            </a:r>
          </a:p>
        </p:txBody>
      </p:sp>
      <p:sp>
        <p:nvSpPr>
          <p:cNvPr id="27" name="Oval 26"/>
          <p:cNvSpPr/>
          <p:nvPr/>
        </p:nvSpPr>
        <p:spPr>
          <a:xfrm>
            <a:off x="4517136" y="4744643"/>
            <a:ext cx="50292" cy="50292"/>
          </a:xfrm>
          <a:prstGeom prst="ellipse">
            <a:avLst/>
          </a:prstGeom>
          <a:solidFill>
            <a:srgbClr val="2FB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4691824"/>
            <a:ext cx="2944368" cy="331978"/>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Confidential concerns routed for review rather than into a public average</a:t>
            </a:r>
          </a:p>
        </p:txBody>
      </p:sp>
      <p:sp>
        <p:nvSpPr>
          <p:cNvPr id="29" name="Oval 28"/>
          <p:cNvSpPr/>
          <p:nvPr/>
        </p:nvSpPr>
        <p:spPr>
          <a:xfrm>
            <a:off x="4517136" y="5149773"/>
            <a:ext cx="50292" cy="50292"/>
          </a:xfrm>
          <a:prstGeom prst="ellipse">
            <a:avLst/>
          </a:prstGeom>
          <a:solidFill>
            <a:srgbClr val="2FB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00016" y="5096954"/>
            <a:ext cx="2944368" cy="175133"/>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Action items with an owner, a priority and a due date</a:t>
            </a:r>
          </a:p>
        </p:txBody>
      </p:sp>
      <p:sp>
        <p:nvSpPr>
          <p:cNvPr id="31" name="Oval 30"/>
          <p:cNvSpPr/>
          <p:nvPr/>
        </p:nvSpPr>
        <p:spPr>
          <a:xfrm>
            <a:off x="4517136" y="5398058"/>
            <a:ext cx="50292" cy="50292"/>
          </a:xfrm>
          <a:prstGeom prst="ellipse">
            <a:avLst/>
          </a:prstGeom>
          <a:solidFill>
            <a:srgbClr val="2FB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5345239"/>
            <a:ext cx="2944368" cy="331978"/>
          </a:xfrm>
          <a:prstGeom prst="rect">
            <a:avLst/>
          </a:prstGeom>
          <a:noFill/>
        </p:spPr>
        <p:txBody>
          <a:bodyPr wrap="square" lIns="0" rIns="0" tIns="0" bIns="0" anchor="t">
            <a:spAutoFit/>
          </a:bodyPr>
          <a:lstStyle/>
          <a:p>
            <a:pPr algn="l">
              <a:lnSpc>
                <a:spcPts val="1235"/>
              </a:lnSpc>
            </a:pPr>
            <a:r>
              <a:rPr sz="950">
                <a:solidFill>
                  <a:srgbClr val="535B6E"/>
                </a:solidFill>
                <a:latin typeface="Segoe UI"/>
              </a:rPr>
              <a:t>Teacher-to-student feedback with controlled visibility to the child or the parent</a:t>
            </a:r>
          </a:p>
        </p:txBody>
      </p:sp>
      <p:sp>
        <p:nvSpPr>
          <p:cNvPr id="34" name="Rounded Rectangle 33"/>
          <p:cNvSpPr/>
          <p:nvPr/>
        </p:nvSpPr>
        <p:spPr>
          <a:xfrm>
            <a:off x="8970264" y="978408"/>
            <a:ext cx="1847088" cy="2663668"/>
          </a:xfrm>
          <a:prstGeom prst="roundRect">
            <a:avLst>
              <a:gd name="adj" fmla="val 1799"/>
            </a:avLst>
          </a:prstGeom>
          <a:solidFill>
            <a:srgbClr val="FFFFFF"/>
          </a:solidFill>
          <a:ln w="9525">
            <a:solidFill>
              <a:srgbClr val="DFE3EC"/>
            </a:solidFill>
          </a:ln>
          <a:effectLst>
            <a:outerShdw blurRad="457200" dist="165100" dir="5400000" rotWithShape="0">
              <a:srgbClr val="0A1024">
                <a:alpha val="1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arent-phone.png"/>
          <p:cNvPicPr>
            <a:picLocks noChangeAspect="1"/>
          </p:cNvPicPr>
          <p:nvPr/>
        </p:nvPicPr>
        <p:blipFill>
          <a:blip r:embed="rId3"/>
          <a:srcRect b="30000"/>
          <a:stretch>
            <a:fillRect/>
          </a:stretch>
        </p:blipFill>
        <p:spPr>
          <a:xfrm>
            <a:off x="9015984" y="1024128"/>
            <a:ext cx="1755648" cy="2572228"/>
          </a:xfrm>
          <a:prstGeom prst="rect">
            <a:avLst/>
          </a:prstGeom>
        </p:spPr>
      </p:pic>
      <p:sp>
        <p:nvSpPr>
          <p:cNvPr id="36" name="Rounded Rectangle 35"/>
          <p:cNvSpPr/>
          <p:nvPr/>
        </p:nvSpPr>
        <p:spPr>
          <a:xfrm>
            <a:off x="8330184" y="3886200"/>
            <a:ext cx="3127248" cy="534849"/>
          </a:xfrm>
          <a:prstGeom prst="roundRect">
            <a:avLst>
              <a:gd name="adj" fmla="val 1799"/>
            </a:avLst>
          </a:prstGeom>
          <a:solidFill>
            <a:srgbClr val="FFFFFF"/>
          </a:solidFill>
          <a:ln w="9525">
            <a:solidFill>
              <a:srgbClr val="DFE3EC"/>
            </a:solidFill>
          </a:ln>
          <a:effectLst>
            <a:outerShdw blurRad="457200" dist="165100" dir="5400000" rotWithShape="0">
              <a:srgbClr val="0A1024">
                <a:alpha val="1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feedback.png"/>
          <p:cNvPicPr>
            <a:picLocks noChangeAspect="1"/>
          </p:cNvPicPr>
          <p:nvPr/>
        </p:nvPicPr>
        <p:blipFill>
          <a:blip r:embed="rId4"/>
          <a:srcRect l="15700" t="8500" r="1500" b="70000"/>
          <a:stretch>
            <a:fillRect/>
          </a:stretch>
        </p:blipFill>
        <p:spPr>
          <a:xfrm>
            <a:off x="8375904" y="3931920"/>
            <a:ext cx="3035808" cy="443409"/>
          </a:xfrm>
          <a:prstGeom prst="rect">
            <a:avLst/>
          </a:prstGeom>
        </p:spPr>
      </p:pic>
      <p:sp>
        <p:nvSpPr>
          <p:cNvPr id="37" name="TextBox 36"/>
          <p:cNvSpPr txBox="1"/>
          <p:nvPr/>
        </p:nvSpPr>
        <p:spPr>
          <a:xfrm>
            <a:off x="8375904" y="4626864"/>
            <a:ext cx="3035808" cy="503301"/>
          </a:xfrm>
          <a:prstGeom prst="rect">
            <a:avLst/>
          </a:prstGeom>
          <a:noFill/>
        </p:spPr>
        <p:txBody>
          <a:bodyPr wrap="square" lIns="0" rIns="0" tIns="0" bIns="0" anchor="t">
            <a:spAutoFit/>
          </a:bodyPr>
          <a:lstStyle/>
          <a:p>
            <a:pPr algn="l">
              <a:lnSpc>
                <a:spcPts val="1273"/>
              </a:lnSpc>
            </a:pPr>
            <a:r>
              <a:rPr sz="950">
                <a:solidFill>
                  <a:srgbClr val="8A92A3"/>
                </a:solidFill>
                <a:latin typeface="Segoe UI"/>
              </a:rPr>
              <a:t>A parent’s own view of their own children, and the feedback cycle: campaigns, response rate, concerns and action items.</a:t>
            </a:r>
          </a:p>
        </p:txBody>
      </p:sp>
      <p:sp>
        <p:nvSpPr>
          <p:cNvPr id="38" name="TextBox 37"/>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42415"/>
            <a:ext cx="6400800" cy="191643"/>
          </a:xfrm>
          <a:prstGeom prst="rect">
            <a:avLst/>
          </a:prstGeom>
          <a:noFill/>
        </p:spPr>
        <p:txBody>
          <a:bodyPr wrap="square" lIns="0" rIns="0" tIns="0" bIns="0" anchor="t">
            <a:spAutoFit/>
          </a:bodyPr>
          <a:lstStyle/>
          <a:p>
            <a:pPr algn="l">
              <a:lnSpc>
                <a:spcPts val="1365"/>
              </a:lnSpc>
            </a:pPr>
            <a:r>
              <a:rPr sz="1050" spc="180">
                <a:solidFill>
                  <a:srgbClr val="6C4BF4"/>
                </a:solidFill>
                <a:latin typeface="Segoe UI Semibold"/>
              </a:rPr>
              <a:t>MONEY AND OPERATIONS</a:t>
            </a:r>
          </a:p>
        </p:txBody>
      </p:sp>
      <p:sp>
        <p:nvSpPr>
          <p:cNvPr id="5" name="TextBox 4"/>
          <p:cNvSpPr txBox="1"/>
          <p:nvPr/>
        </p:nvSpPr>
        <p:spPr>
          <a:xfrm>
            <a:off x="786384" y="1398650"/>
            <a:ext cx="6400800" cy="813816"/>
          </a:xfrm>
          <a:prstGeom prst="rect">
            <a:avLst/>
          </a:prstGeom>
          <a:noFill/>
        </p:spPr>
        <p:txBody>
          <a:bodyPr wrap="square" lIns="0" rIns="0" tIns="0" bIns="0" anchor="t">
            <a:spAutoFit/>
          </a:bodyPr>
          <a:lstStyle/>
          <a:p>
            <a:pPr algn="l">
              <a:lnSpc>
                <a:spcPts val="3132"/>
              </a:lnSpc>
            </a:pPr>
            <a:r>
              <a:rPr sz="2900">
                <a:solidFill>
                  <a:srgbClr val="0A1024"/>
                </a:solidFill>
                <a:latin typeface="Segoe UI Semibold"/>
              </a:rPr>
              <a:t>A payment taken at 11:04 changes</a:t>
            </a:r>
          </a:p>
          <a:p>
            <a:pPr algn="l">
              <a:lnSpc>
                <a:spcPts val="3132"/>
              </a:lnSpc>
            </a:pPr>
            <a:r>
              <a:rPr sz="2900">
                <a:solidFill>
                  <a:srgbClr val="0A1024"/>
                </a:solidFill>
                <a:latin typeface="Segoe UI Semibold"/>
              </a:rPr>
              <a:t>the outstanding figure at 11:04.</a:t>
            </a:r>
          </a:p>
        </p:txBody>
      </p:sp>
      <p:sp>
        <p:nvSpPr>
          <p:cNvPr id="6" name="TextBox 5"/>
          <p:cNvSpPr txBox="1"/>
          <p:nvPr/>
        </p:nvSpPr>
        <p:spPr>
          <a:xfrm>
            <a:off x="786384" y="2413634"/>
            <a:ext cx="4937760" cy="420624"/>
          </a:xfrm>
          <a:prstGeom prst="rect">
            <a:avLst/>
          </a:prstGeom>
          <a:noFill/>
        </p:spPr>
        <p:txBody>
          <a:bodyPr wrap="square" lIns="0" rIns="0" tIns="0" bIns="0" anchor="t">
            <a:spAutoFit/>
          </a:bodyPr>
          <a:lstStyle/>
          <a:p>
            <a:pPr algn="l">
              <a:lnSpc>
                <a:spcPts val="1584"/>
              </a:lnSpc>
            </a:pPr>
            <a:r>
              <a:rPr sz="1100">
                <a:solidFill>
                  <a:srgbClr val="535B6E"/>
                </a:solidFill>
                <a:latin typeface="Segoe UI"/>
              </a:rPr>
              <a:t>Fee structures are defined once per class and produce every invoice, receipt and outstanding report from the same figures.</a:t>
            </a:r>
          </a:p>
        </p:txBody>
      </p:sp>
      <p:sp>
        <p:nvSpPr>
          <p:cNvPr id="7" name="Rectangle 6"/>
          <p:cNvSpPr/>
          <p:nvPr/>
        </p:nvSpPr>
        <p:spPr>
          <a:xfrm>
            <a:off x="786384" y="3657600"/>
            <a:ext cx="3234842" cy="22860"/>
          </a:xfrm>
          <a:prstGeom prst="rect">
            <a:avLst/>
          </a:prstGeom>
          <a:solidFill>
            <a:srgbClr val="4EA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3803904"/>
            <a:ext cx="3234842" cy="169100"/>
          </a:xfrm>
          <a:prstGeom prst="rect">
            <a:avLst/>
          </a:prstGeom>
          <a:noFill/>
        </p:spPr>
        <p:txBody>
          <a:bodyPr wrap="square" lIns="0" rIns="0" tIns="0" bIns="0" anchor="t">
            <a:spAutoFit/>
          </a:bodyPr>
          <a:lstStyle/>
          <a:p>
            <a:pPr algn="l">
              <a:lnSpc>
                <a:spcPts val="1187"/>
              </a:lnSpc>
            </a:pPr>
            <a:r>
              <a:rPr sz="950" spc="130">
                <a:solidFill>
                  <a:srgbClr val="0A1024"/>
                </a:solidFill>
                <a:latin typeface="Segoe UI Semibold"/>
              </a:rPr>
              <a:t>FEES</a:t>
            </a:r>
          </a:p>
        </p:txBody>
      </p:sp>
      <p:sp>
        <p:nvSpPr>
          <p:cNvPr id="9" name="TextBox 8"/>
          <p:cNvSpPr txBox="1"/>
          <p:nvPr/>
        </p:nvSpPr>
        <p:spPr>
          <a:xfrm>
            <a:off x="786384" y="408273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Heads, instalments, due dates and late-fee rules per class</a:t>
            </a:r>
          </a:p>
        </p:txBody>
      </p:sp>
      <p:sp>
        <p:nvSpPr>
          <p:cNvPr id="10" name="TextBox 9"/>
          <p:cNvSpPr txBox="1"/>
          <p:nvPr/>
        </p:nvSpPr>
        <p:spPr>
          <a:xfrm>
            <a:off x="786384" y="435197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Bulk invoice generation, previewed before it is committed</a:t>
            </a:r>
          </a:p>
        </p:txBody>
      </p:sp>
      <p:sp>
        <p:nvSpPr>
          <p:cNvPr id="11" name="TextBox 10"/>
          <p:cNvSpPr txBox="1"/>
          <p:nvPr/>
        </p:nvSpPr>
        <p:spPr>
          <a:xfrm>
            <a:off x="786384" y="462121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Counter collection in cash, cheque, card, UPI or transfer</a:t>
            </a:r>
          </a:p>
        </p:txBody>
      </p:sp>
      <p:sp>
        <p:nvSpPr>
          <p:cNvPr id="12" name="TextBox 11"/>
          <p:cNvSpPr txBox="1"/>
          <p:nvPr/>
        </p:nvSpPr>
        <p:spPr>
          <a:xfrm>
            <a:off x="786384" y="489045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Numbered, branded receipts printed at the counter</a:t>
            </a:r>
          </a:p>
        </p:txBody>
      </p:sp>
      <p:sp>
        <p:nvSpPr>
          <p:cNvPr id="13" name="TextBox 12"/>
          <p:cNvSpPr txBox="1"/>
          <p:nvPr/>
        </p:nvSpPr>
        <p:spPr>
          <a:xfrm>
            <a:off x="786384" y="515969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Part payments allocated across invoices, oldest first</a:t>
            </a:r>
          </a:p>
        </p:txBody>
      </p:sp>
      <p:sp>
        <p:nvSpPr>
          <p:cNvPr id="14" name="TextBox 13"/>
          <p:cNvSpPr txBox="1"/>
          <p:nvPr/>
        </p:nvSpPr>
        <p:spPr>
          <a:xfrm>
            <a:off x="786384" y="542893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Sibling, staff and scholarship concessions on the record</a:t>
            </a:r>
          </a:p>
        </p:txBody>
      </p:sp>
      <p:sp>
        <p:nvSpPr>
          <p:cNvPr id="15" name="Rectangle 14"/>
          <p:cNvSpPr/>
          <p:nvPr/>
        </p:nvSpPr>
        <p:spPr>
          <a:xfrm>
            <a:off x="4478426" y="3657600"/>
            <a:ext cx="3234842" cy="22860"/>
          </a:xfrm>
          <a:prstGeom prst="rect">
            <a:avLst/>
          </a:prstGeom>
          <a:solidFill>
            <a:srgbClr val="EF5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8426" y="3803904"/>
            <a:ext cx="3234842" cy="169100"/>
          </a:xfrm>
          <a:prstGeom prst="rect">
            <a:avLst/>
          </a:prstGeom>
          <a:noFill/>
        </p:spPr>
        <p:txBody>
          <a:bodyPr wrap="square" lIns="0" rIns="0" tIns="0" bIns="0" anchor="t">
            <a:spAutoFit/>
          </a:bodyPr>
          <a:lstStyle/>
          <a:p>
            <a:pPr algn="l">
              <a:lnSpc>
                <a:spcPts val="1187"/>
              </a:lnSpc>
            </a:pPr>
            <a:r>
              <a:rPr sz="950" spc="130">
                <a:solidFill>
                  <a:srgbClr val="0A1024"/>
                </a:solidFill>
                <a:latin typeface="Segoe UI Semibold"/>
              </a:rPr>
              <a:t>VISIBILITY</a:t>
            </a:r>
          </a:p>
        </p:txBody>
      </p:sp>
      <p:sp>
        <p:nvSpPr>
          <p:cNvPr id="17" name="TextBox 16"/>
          <p:cNvSpPr txBox="1"/>
          <p:nvPr/>
        </p:nvSpPr>
        <p:spPr>
          <a:xfrm>
            <a:off x="4478426" y="408273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Outstanding by class and by family, as of today</a:t>
            </a:r>
          </a:p>
        </p:txBody>
      </p:sp>
      <p:sp>
        <p:nvSpPr>
          <p:cNvPr id="18" name="TextBox 17"/>
          <p:cNvSpPr txBox="1"/>
          <p:nvPr/>
        </p:nvSpPr>
        <p:spPr>
          <a:xfrm>
            <a:off x="4478426" y="435197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Arrears aged from each invoice's due date</a:t>
            </a:r>
          </a:p>
        </p:txBody>
      </p:sp>
      <p:sp>
        <p:nvSpPr>
          <p:cNvPr id="19" name="TextBox 18"/>
          <p:cNvSpPr txBox="1"/>
          <p:nvPr/>
        </p:nvSpPr>
        <p:spPr>
          <a:xfrm>
            <a:off x="4478426" y="462121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Collection against billing, month by month</a:t>
            </a:r>
          </a:p>
        </p:txBody>
      </p:sp>
      <p:sp>
        <p:nvSpPr>
          <p:cNvPr id="20" name="TextBox 19"/>
          <p:cNvSpPr txBox="1"/>
          <p:nvPr/>
        </p:nvSpPr>
        <p:spPr>
          <a:xfrm>
            <a:off x="4478426" y="489045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How families paid, by mode</a:t>
            </a:r>
          </a:p>
        </p:txBody>
      </p:sp>
      <p:sp>
        <p:nvSpPr>
          <p:cNvPr id="21" name="TextBox 20"/>
          <p:cNvSpPr txBox="1"/>
          <p:nvPr/>
        </p:nvSpPr>
        <p:spPr>
          <a:xfrm>
            <a:off x="4478426" y="515969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Every payment with the person who took it</a:t>
            </a:r>
          </a:p>
        </p:txBody>
      </p:sp>
      <p:sp>
        <p:nvSpPr>
          <p:cNvPr id="22" name="TextBox 21"/>
          <p:cNvSpPr txBox="1"/>
          <p:nvPr/>
        </p:nvSpPr>
        <p:spPr>
          <a:xfrm>
            <a:off x="4478426" y="542893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Six reports, each exportable to CSV</a:t>
            </a:r>
          </a:p>
        </p:txBody>
      </p:sp>
      <p:sp>
        <p:nvSpPr>
          <p:cNvPr id="23" name="Rectangle 22"/>
          <p:cNvSpPr/>
          <p:nvPr/>
        </p:nvSpPr>
        <p:spPr>
          <a:xfrm>
            <a:off x="8170468" y="3657600"/>
            <a:ext cx="3234842" cy="22860"/>
          </a:xfrm>
          <a:prstGeom prst="rect">
            <a:avLst/>
          </a:prstGeom>
          <a:solidFill>
            <a:srgbClr val="F0A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0468" y="3803904"/>
            <a:ext cx="3234842" cy="169100"/>
          </a:xfrm>
          <a:prstGeom prst="rect">
            <a:avLst/>
          </a:prstGeom>
          <a:noFill/>
        </p:spPr>
        <p:txBody>
          <a:bodyPr wrap="square" lIns="0" rIns="0" tIns="0" bIns="0" anchor="t">
            <a:spAutoFit/>
          </a:bodyPr>
          <a:lstStyle/>
          <a:p>
            <a:pPr algn="l">
              <a:lnSpc>
                <a:spcPts val="1187"/>
              </a:lnSpc>
            </a:pPr>
            <a:r>
              <a:rPr sz="950" spc="130">
                <a:solidFill>
                  <a:srgbClr val="0A1024"/>
                </a:solidFill>
                <a:latin typeface="Segoe UI Semibold"/>
              </a:rPr>
              <a:t>THE REST OF THE OFFICE</a:t>
            </a:r>
          </a:p>
        </p:txBody>
      </p:sp>
      <p:sp>
        <p:nvSpPr>
          <p:cNvPr id="25" name="TextBox 24"/>
          <p:cNvSpPr txBox="1"/>
          <p:nvPr/>
        </p:nvSpPr>
        <p:spPr>
          <a:xfrm>
            <a:off x="8170468" y="408273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Staff records, roles and permissions</a:t>
            </a:r>
          </a:p>
        </p:txBody>
      </p:sp>
      <p:sp>
        <p:nvSpPr>
          <p:cNvPr id="26" name="TextBox 25"/>
          <p:cNvSpPr txBox="1"/>
          <p:nvPr/>
        </p:nvSpPr>
        <p:spPr>
          <a:xfrm>
            <a:off x="8170468" y="435197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Geofenced staff check-in, decided on the server</a:t>
            </a:r>
          </a:p>
        </p:txBody>
      </p:sp>
      <p:sp>
        <p:nvSpPr>
          <p:cNvPr id="27" name="TextBox 26"/>
          <p:cNvSpPr txBox="1"/>
          <p:nvPr/>
        </p:nvSpPr>
        <p:spPr>
          <a:xfrm>
            <a:off x="8170468" y="462121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Leave applied for, approved and reconciled to the register</a:t>
            </a:r>
          </a:p>
        </p:txBody>
      </p:sp>
      <p:sp>
        <p:nvSpPr>
          <p:cNvPr id="28" name="TextBox 27"/>
          <p:cNvSpPr txBox="1"/>
          <p:nvPr/>
        </p:nvSpPr>
        <p:spPr>
          <a:xfrm>
            <a:off x="8170468" y="489045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Transport: routes, stops, fleet papers and live tracking</a:t>
            </a:r>
          </a:p>
        </p:txBody>
      </p:sp>
      <p:sp>
        <p:nvSpPr>
          <p:cNvPr id="29" name="TextBox 28"/>
          <p:cNvSpPr txBox="1"/>
          <p:nvPr/>
        </p:nvSpPr>
        <p:spPr>
          <a:xfrm>
            <a:off x="8170468" y="515969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Library, inventory, events, sports and the front desk</a:t>
            </a:r>
          </a:p>
        </p:txBody>
      </p:sp>
      <p:sp>
        <p:nvSpPr>
          <p:cNvPr id="30" name="TextBox 29"/>
          <p:cNvSpPr txBox="1"/>
          <p:nvPr/>
        </p:nvSpPr>
        <p:spPr>
          <a:xfrm>
            <a:off x="8170468" y="5428932"/>
            <a:ext cx="3234842" cy="182372"/>
          </a:xfrm>
          <a:prstGeom prst="rect">
            <a:avLst/>
          </a:prstGeom>
          <a:noFill/>
        </p:spPr>
        <p:txBody>
          <a:bodyPr wrap="square" lIns="0" rIns="0" tIns="0" bIns="0" anchor="t">
            <a:spAutoFit/>
          </a:bodyPr>
          <a:lstStyle/>
          <a:p>
            <a:pPr algn="l">
              <a:lnSpc>
                <a:spcPts val="1292"/>
              </a:lnSpc>
            </a:pPr>
            <a:r>
              <a:rPr sz="950">
                <a:solidFill>
                  <a:srgbClr val="535B6E"/>
                </a:solidFill>
                <a:latin typeface="Segoe UI"/>
              </a:rPr>
              <a:t>Your school website, on your own domain</a:t>
            </a:r>
          </a:p>
        </p:txBody>
      </p:sp>
      <p:sp>
        <p:nvSpPr>
          <p:cNvPr id="32" name="Rounded Rectangle 31"/>
          <p:cNvSpPr/>
          <p:nvPr/>
        </p:nvSpPr>
        <p:spPr>
          <a:xfrm>
            <a:off x="7324344" y="960120"/>
            <a:ext cx="4133088" cy="2163809"/>
          </a:xfrm>
          <a:prstGeom prst="roundRect">
            <a:avLst>
              <a:gd name="adj" fmla="val 1799"/>
            </a:avLst>
          </a:prstGeom>
          <a:solidFill>
            <a:srgbClr val="FFFFFF"/>
          </a:solidFill>
          <a:ln w="9525">
            <a:solidFill>
              <a:srgbClr val="DFE3EC"/>
            </a:solidFill>
          </a:ln>
          <a:effectLst>
            <a:outerShdw blurRad="457200" dist="165100" dir="5400000" rotWithShape="0">
              <a:srgbClr val="0A1024">
                <a:alpha val="1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reports-coll.png"/>
          <p:cNvPicPr>
            <a:picLocks noChangeAspect="1"/>
          </p:cNvPicPr>
          <p:nvPr/>
        </p:nvPicPr>
        <p:blipFill>
          <a:blip r:embed="rId3"/>
          <a:srcRect l="15700" t="5000" r="500" b="32500"/>
          <a:stretch>
            <a:fillRect/>
          </a:stretch>
        </p:blipFill>
        <p:spPr>
          <a:xfrm>
            <a:off x="7370064" y="1005840"/>
            <a:ext cx="4041648" cy="2072369"/>
          </a:xfrm>
          <a:prstGeom prst="rect">
            <a:avLst/>
          </a:prstGeom>
        </p:spPr>
      </p:pic>
      <p:sp>
        <p:nvSpPr>
          <p:cNvPr id="33" name="TextBox 32"/>
          <p:cNvSpPr txBox="1"/>
          <p:nvPr/>
        </p:nvSpPr>
        <p:spPr>
          <a:xfrm>
            <a:off x="7370064" y="3233657"/>
            <a:ext cx="4041648" cy="175133"/>
          </a:xfrm>
          <a:prstGeom prst="rect">
            <a:avLst/>
          </a:prstGeom>
          <a:noFill/>
        </p:spPr>
        <p:txBody>
          <a:bodyPr wrap="square" lIns="0" rIns="0" tIns="0" bIns="0" anchor="t">
            <a:spAutoFit/>
          </a:bodyPr>
          <a:lstStyle/>
          <a:p>
            <a:pPr algn="l">
              <a:lnSpc>
                <a:spcPts val="1235"/>
              </a:lnSpc>
            </a:pPr>
            <a:r>
              <a:rPr sz="950">
                <a:solidFill>
                  <a:srgbClr val="8A92A3"/>
                </a:solidFill>
                <a:latin typeface="Segoe UI"/>
              </a:rPr>
              <a:t>Fee collection and arrears. Ageing measured from each invoice's due date.</a:t>
            </a:r>
          </a:p>
        </p:txBody>
      </p:sp>
      <p:sp>
        <p:nvSpPr>
          <p:cNvPr id="34" name="TextBox 33"/>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gradFill rotWithShape="1">
            <a:gsLst>
              <a:gs pos="0">
                <a:srgbClr val="6C4BF4">
                  <a:alpha val="22000"/>
                </a:srgbClr>
              </a:gs>
              <a:gs pos="45000">
                <a:srgbClr val="6C4BF4">
                  <a:alpha val="7480"/>
                </a:srgbClr>
              </a:gs>
              <a:gs pos="100000">
                <a:srgbClr val="6C4BF4">
                  <a:alpha val="0"/>
                </a:srgbClr>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ycampusview-lockup.png"/>
          <p:cNvPicPr>
            <a:picLocks noChangeAspect="1"/>
          </p:cNvPicPr>
          <p:nvPr/>
        </p:nvPicPr>
        <p:blipFill>
          <a:blip r:embed="rId2"/>
          <a:stretch>
            <a:fillRect/>
          </a:stretch>
        </p:blipFill>
        <p:spPr>
          <a:xfrm>
            <a:off x="786384" y="420624"/>
            <a:ext cx="984778" cy="173736"/>
          </a:xfrm>
          <a:prstGeom prst="rect">
            <a:avLst/>
          </a:prstGeom>
        </p:spPr>
      </p:pic>
      <p:sp>
        <p:nvSpPr>
          <p:cNvPr id="5" name="TextBox 4"/>
          <p:cNvSpPr txBox="1"/>
          <p:nvPr/>
        </p:nvSpPr>
        <p:spPr>
          <a:xfrm>
            <a:off x="786384" y="1024128"/>
            <a:ext cx="6400800" cy="191643"/>
          </a:xfrm>
          <a:prstGeom prst="rect">
            <a:avLst/>
          </a:prstGeom>
          <a:noFill/>
        </p:spPr>
        <p:txBody>
          <a:bodyPr wrap="square" lIns="0" rIns="0" tIns="0" bIns="0" anchor="t">
            <a:spAutoFit/>
          </a:bodyPr>
          <a:lstStyle/>
          <a:p>
            <a:pPr algn="l">
              <a:lnSpc>
                <a:spcPts val="1365"/>
              </a:lnSpc>
            </a:pPr>
            <a:r>
              <a:rPr sz="1050" spc="180">
                <a:solidFill>
                  <a:srgbClr val="B57FF0"/>
                </a:solidFill>
                <a:latin typeface="Segoe UI Semibold"/>
              </a:rPr>
              <a:t>BUILT IN</a:t>
            </a:r>
          </a:p>
        </p:txBody>
      </p:sp>
      <p:sp>
        <p:nvSpPr>
          <p:cNvPr id="6" name="TextBox 5"/>
          <p:cNvSpPr txBox="1"/>
          <p:nvPr/>
        </p:nvSpPr>
        <p:spPr>
          <a:xfrm>
            <a:off x="786384" y="1380363"/>
            <a:ext cx="3803904" cy="1499616"/>
          </a:xfrm>
          <a:prstGeom prst="rect">
            <a:avLst/>
          </a:prstGeom>
          <a:noFill/>
        </p:spPr>
        <p:txBody>
          <a:bodyPr wrap="square" lIns="0" rIns="0" tIns="0" bIns="0" anchor="t">
            <a:spAutoFit/>
          </a:bodyPr>
          <a:lstStyle/>
          <a:p>
            <a:pPr algn="l">
              <a:lnSpc>
                <a:spcPts val="2916"/>
              </a:lnSpc>
            </a:pPr>
            <a:r>
              <a:rPr sz="2700">
                <a:solidFill>
                  <a:srgbClr val="F6F5F2"/>
                </a:solidFill>
                <a:latin typeface="Segoe UI Semibold"/>
              </a:rPr>
              <a:t>Ask the school a question.</a:t>
            </a:r>
          </a:p>
          <a:p>
            <a:pPr algn="l">
              <a:lnSpc>
                <a:spcPts val="2916"/>
              </a:lnSpc>
            </a:pPr>
            <a:r>
              <a:rPr sz="2700">
                <a:solidFill>
                  <a:srgbClr val="F6F5F2"/>
                </a:solidFill>
                <a:latin typeface="Segoe UI Semibold"/>
              </a:rPr>
              <a:t>Get the number, not a report.</a:t>
            </a:r>
          </a:p>
        </p:txBody>
      </p:sp>
      <p:sp>
        <p:nvSpPr>
          <p:cNvPr id="7" name="TextBox 6"/>
          <p:cNvSpPr txBox="1"/>
          <p:nvPr/>
        </p:nvSpPr>
        <p:spPr>
          <a:xfrm>
            <a:off x="786384" y="3081147"/>
            <a:ext cx="3803904" cy="402336"/>
          </a:xfrm>
          <a:prstGeom prst="rect">
            <a:avLst/>
          </a:prstGeom>
          <a:noFill/>
        </p:spPr>
        <p:txBody>
          <a:bodyPr wrap="square" lIns="0" rIns="0" tIns="0" bIns="0" anchor="t">
            <a:spAutoFit/>
          </a:bodyPr>
          <a:lstStyle/>
          <a:p>
            <a:pPr algn="l">
              <a:lnSpc>
                <a:spcPts val="1512"/>
              </a:lnSpc>
            </a:pPr>
            <a:r>
              <a:rPr sz="1050">
                <a:solidFill>
                  <a:srgbClr val="ADB3C6"/>
                </a:solidFill>
                <a:latin typeface="Segoe UI"/>
              </a:rPr>
              <a:t>The fastest way for someone running a school to get a figure they would otherwise click through four screens to find.</a:t>
            </a:r>
          </a:p>
        </p:txBody>
      </p:sp>
      <p:sp>
        <p:nvSpPr>
          <p:cNvPr id="8" name="Rounded Rectangle 7"/>
          <p:cNvSpPr/>
          <p:nvPr/>
        </p:nvSpPr>
        <p:spPr>
          <a:xfrm>
            <a:off x="786384" y="3739515"/>
            <a:ext cx="3803904" cy="310896"/>
          </a:xfrm>
          <a:prstGeom prst="roundRect">
            <a:avLst>
              <a:gd name="adj" fmla="val 30000"/>
            </a:avLst>
          </a:prstGeom>
          <a:solidFill>
            <a:srgbClr val="161C33"/>
          </a:solidFill>
          <a:ln w="9525">
            <a:solidFill>
              <a:srgbClr val="282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812667"/>
            <a:ext cx="3438144" cy="170688"/>
          </a:xfrm>
          <a:prstGeom prst="rect">
            <a:avLst/>
          </a:prstGeom>
          <a:noFill/>
        </p:spPr>
        <p:txBody>
          <a:bodyPr wrap="square" lIns="0" rIns="0" tIns="0" bIns="0" anchor="t">
            <a:spAutoFit/>
          </a:bodyPr>
          <a:lstStyle/>
          <a:p>
            <a:pPr algn="l">
              <a:lnSpc>
                <a:spcPts val="1200"/>
              </a:lnSpc>
            </a:pPr>
            <a:r>
              <a:rPr sz="1000">
                <a:solidFill>
                  <a:srgbClr val="F6F5F2"/>
                </a:solidFill>
                <a:latin typeface="Segoe UI"/>
              </a:rPr>
              <a:t>What fees are pending?</a:t>
            </a:r>
          </a:p>
        </p:txBody>
      </p:sp>
      <p:sp>
        <p:nvSpPr>
          <p:cNvPr id="10" name="Rounded Rectangle 9"/>
          <p:cNvSpPr/>
          <p:nvPr/>
        </p:nvSpPr>
        <p:spPr>
          <a:xfrm>
            <a:off x="786384" y="4123563"/>
            <a:ext cx="3803904" cy="310896"/>
          </a:xfrm>
          <a:prstGeom prst="roundRect">
            <a:avLst>
              <a:gd name="adj" fmla="val 30000"/>
            </a:avLst>
          </a:prstGeom>
          <a:solidFill>
            <a:srgbClr val="161C33"/>
          </a:solidFill>
          <a:ln w="9525">
            <a:solidFill>
              <a:srgbClr val="282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4196715"/>
            <a:ext cx="3438144" cy="170688"/>
          </a:xfrm>
          <a:prstGeom prst="rect">
            <a:avLst/>
          </a:prstGeom>
          <a:noFill/>
        </p:spPr>
        <p:txBody>
          <a:bodyPr wrap="square" lIns="0" rIns="0" tIns="0" bIns="0" anchor="t">
            <a:spAutoFit/>
          </a:bodyPr>
          <a:lstStyle/>
          <a:p>
            <a:pPr algn="l">
              <a:lnSpc>
                <a:spcPts val="1200"/>
              </a:lnSpc>
            </a:pPr>
            <a:r>
              <a:rPr sz="1000">
                <a:solidFill>
                  <a:srgbClr val="F6F5F2"/>
                </a:solidFill>
                <a:latin typeface="Segoe UI"/>
              </a:rPr>
              <a:t>Whose attendance is missing today?</a:t>
            </a:r>
          </a:p>
        </p:txBody>
      </p:sp>
      <p:sp>
        <p:nvSpPr>
          <p:cNvPr id="12" name="Rounded Rectangle 11"/>
          <p:cNvSpPr/>
          <p:nvPr/>
        </p:nvSpPr>
        <p:spPr>
          <a:xfrm>
            <a:off x="786384" y="4507611"/>
            <a:ext cx="3803904" cy="310896"/>
          </a:xfrm>
          <a:prstGeom prst="roundRect">
            <a:avLst>
              <a:gd name="adj" fmla="val 30000"/>
            </a:avLst>
          </a:prstGeom>
          <a:solidFill>
            <a:srgbClr val="161C33"/>
          </a:solidFill>
          <a:ln w="9525">
            <a:solidFill>
              <a:srgbClr val="282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580763"/>
            <a:ext cx="3438144" cy="170688"/>
          </a:xfrm>
          <a:prstGeom prst="rect">
            <a:avLst/>
          </a:prstGeom>
          <a:noFill/>
        </p:spPr>
        <p:txBody>
          <a:bodyPr wrap="square" lIns="0" rIns="0" tIns="0" bIns="0" anchor="t">
            <a:spAutoFit/>
          </a:bodyPr>
          <a:lstStyle/>
          <a:p>
            <a:pPr algn="l">
              <a:lnSpc>
                <a:spcPts val="1200"/>
              </a:lnSpc>
            </a:pPr>
            <a:r>
              <a:rPr sz="1000">
                <a:solidFill>
                  <a:srgbClr val="F6F5F2"/>
                </a:solidFill>
                <a:latin typeface="Segoe UI"/>
              </a:rPr>
              <a:t>How much did we collect this month?</a:t>
            </a:r>
          </a:p>
        </p:txBody>
      </p:sp>
      <p:sp>
        <p:nvSpPr>
          <p:cNvPr id="14" name="Rounded Rectangle 13"/>
          <p:cNvSpPr/>
          <p:nvPr/>
        </p:nvSpPr>
        <p:spPr>
          <a:xfrm>
            <a:off x="786384" y="4891659"/>
            <a:ext cx="3803904" cy="310896"/>
          </a:xfrm>
          <a:prstGeom prst="roundRect">
            <a:avLst>
              <a:gd name="adj" fmla="val 30000"/>
            </a:avLst>
          </a:prstGeom>
          <a:solidFill>
            <a:srgbClr val="161C33"/>
          </a:solidFill>
          <a:ln w="9525">
            <a:solidFill>
              <a:srgbClr val="282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964811"/>
            <a:ext cx="3438144" cy="170688"/>
          </a:xfrm>
          <a:prstGeom prst="rect">
            <a:avLst/>
          </a:prstGeom>
          <a:noFill/>
        </p:spPr>
        <p:txBody>
          <a:bodyPr wrap="square" lIns="0" rIns="0" tIns="0" bIns="0" anchor="t">
            <a:spAutoFit/>
          </a:bodyPr>
          <a:lstStyle/>
          <a:p>
            <a:pPr algn="l">
              <a:lnSpc>
                <a:spcPts val="1200"/>
              </a:lnSpc>
            </a:pPr>
            <a:r>
              <a:rPr sz="1000">
                <a:solidFill>
                  <a:srgbClr val="F6F5F2"/>
                </a:solidFill>
                <a:latin typeface="Segoe UI"/>
              </a:rPr>
              <a:t>Which students have attendance below 80%?</a:t>
            </a:r>
          </a:p>
        </p:txBody>
      </p:sp>
      <p:sp>
        <p:nvSpPr>
          <p:cNvPr id="17" name="Rounded Rectangle 16"/>
          <p:cNvSpPr/>
          <p:nvPr/>
        </p:nvSpPr>
        <p:spPr>
          <a:xfrm>
            <a:off x="4928616" y="978408"/>
            <a:ext cx="6519672" cy="3305556"/>
          </a:xfrm>
          <a:prstGeom prst="roundRect">
            <a:avLst>
              <a:gd name="adj" fmla="val 1799"/>
            </a:avLst>
          </a:prstGeom>
          <a:solidFill>
            <a:srgbClr val="FFFFFF"/>
          </a:solidFill>
          <a:ln w="9525">
            <a:solidFill>
              <a:srgbClr val="DFE3EC"/>
            </a:solidFill>
          </a:ln>
          <a:effectLst>
            <a:outerShdw blurRad="457200" dist="165100" dir="5400000" rotWithShape="0">
              <a:srgbClr val="0A1024">
                <a:alpha val="1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ssistant.png"/>
          <p:cNvPicPr>
            <a:picLocks noChangeAspect="1"/>
          </p:cNvPicPr>
          <p:nvPr/>
        </p:nvPicPr>
        <p:blipFill>
          <a:blip r:embed="rId3"/>
          <a:srcRect b="20000"/>
          <a:stretch>
            <a:fillRect/>
          </a:stretch>
        </p:blipFill>
        <p:spPr>
          <a:xfrm>
            <a:off x="4974336" y="1024128"/>
            <a:ext cx="6428232" cy="3214116"/>
          </a:xfrm>
          <a:prstGeom prst="rect">
            <a:avLst/>
          </a:prstGeom>
        </p:spPr>
      </p:pic>
      <p:sp>
        <p:nvSpPr>
          <p:cNvPr id="18" name="TextBox 17"/>
          <p:cNvSpPr txBox="1"/>
          <p:nvPr/>
        </p:nvSpPr>
        <p:spPr>
          <a:xfrm>
            <a:off x="4974336" y="4393692"/>
            <a:ext cx="6428232" cy="175133"/>
          </a:xfrm>
          <a:prstGeom prst="rect">
            <a:avLst/>
          </a:prstGeom>
          <a:noFill/>
        </p:spPr>
        <p:txBody>
          <a:bodyPr wrap="square" lIns="0" rIns="0" tIns="0" bIns="0" anchor="t">
            <a:spAutoFit/>
          </a:bodyPr>
          <a:lstStyle/>
          <a:p>
            <a:pPr algn="l">
              <a:lnSpc>
                <a:spcPts val="1235"/>
              </a:lnSpc>
            </a:pPr>
            <a:r>
              <a:rPr sz="950">
                <a:solidFill>
                  <a:srgbClr val="71798F"/>
                </a:solidFill>
                <a:latin typeface="Segoe UI"/>
              </a:rPr>
              <a:t>The assistant answering from the demonstration school's own fee records.</a:t>
            </a:r>
          </a:p>
        </p:txBody>
      </p:sp>
      <p:sp>
        <p:nvSpPr>
          <p:cNvPr id="19" name="Rectangle 18"/>
          <p:cNvSpPr/>
          <p:nvPr/>
        </p:nvSpPr>
        <p:spPr>
          <a:xfrm>
            <a:off x="786384" y="5476875"/>
            <a:ext cx="10618927"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5696331"/>
            <a:ext cx="2352979" cy="177038"/>
          </a:xfrm>
          <a:prstGeom prst="rect">
            <a:avLst/>
          </a:prstGeom>
          <a:noFill/>
        </p:spPr>
        <p:txBody>
          <a:bodyPr wrap="square" lIns="0" rIns="0" tIns="0" bIns="0" anchor="t">
            <a:spAutoFit/>
          </a:bodyPr>
          <a:lstStyle/>
          <a:p>
            <a:pPr algn="l">
              <a:lnSpc>
                <a:spcPts val="1250"/>
              </a:lnSpc>
            </a:pPr>
            <a:r>
              <a:rPr sz="1000">
                <a:solidFill>
                  <a:srgbClr val="4EA3F5"/>
                </a:solidFill>
                <a:latin typeface="Segoe UI Semibold"/>
              </a:rPr>
              <a:t>Every figure comes from your records</a:t>
            </a:r>
          </a:p>
        </p:txBody>
      </p:sp>
      <p:sp>
        <p:nvSpPr>
          <p:cNvPr id="21" name="TextBox 20"/>
          <p:cNvSpPr txBox="1"/>
          <p:nvPr/>
        </p:nvSpPr>
        <p:spPr>
          <a:xfrm>
            <a:off x="786384" y="5909945"/>
            <a:ext cx="2352979" cy="463905"/>
          </a:xfrm>
          <a:prstGeom prst="rect">
            <a:avLst/>
          </a:prstGeom>
          <a:noFill/>
        </p:spPr>
        <p:txBody>
          <a:bodyPr wrap="square" lIns="0" rIns="0" tIns="0" bIns="0" anchor="t">
            <a:spAutoFit/>
          </a:bodyPr>
          <a:lstStyle/>
          <a:p>
            <a:pPr algn="l">
              <a:lnSpc>
                <a:spcPts val="1169"/>
              </a:lnSpc>
            </a:pPr>
            <a:r>
              <a:rPr sz="860">
                <a:solidFill>
                  <a:srgbClr val="ADB3C6"/>
                </a:solidFill>
                <a:latin typeface="Segoe UI"/>
              </a:rPr>
              <a:t>Fetched at the moment you ask. Nothing is estimated, and nothing is repeated from an earlier answer that may since have changed.</a:t>
            </a:r>
          </a:p>
        </p:txBody>
      </p:sp>
      <p:sp>
        <p:nvSpPr>
          <p:cNvPr id="22" name="TextBox 21"/>
          <p:cNvSpPr txBox="1"/>
          <p:nvPr/>
        </p:nvSpPr>
        <p:spPr>
          <a:xfrm>
            <a:off x="3541699" y="5696331"/>
            <a:ext cx="2352979" cy="335788"/>
          </a:xfrm>
          <a:prstGeom prst="rect">
            <a:avLst/>
          </a:prstGeom>
          <a:noFill/>
        </p:spPr>
        <p:txBody>
          <a:bodyPr wrap="square" lIns="0" rIns="0" tIns="0" bIns="0" anchor="t">
            <a:spAutoFit/>
          </a:bodyPr>
          <a:lstStyle/>
          <a:p>
            <a:pPr algn="l">
              <a:lnSpc>
                <a:spcPts val="1250"/>
              </a:lnSpc>
            </a:pPr>
            <a:r>
              <a:rPr sz="1000">
                <a:solidFill>
                  <a:srgbClr val="EF5BA8"/>
                </a:solidFill>
                <a:latin typeface="Segoe UI Semibold"/>
              </a:rPr>
              <a:t>Each answer links to the screen it came from</a:t>
            </a:r>
          </a:p>
        </p:txBody>
      </p:sp>
      <p:sp>
        <p:nvSpPr>
          <p:cNvPr id="23" name="TextBox 22"/>
          <p:cNvSpPr txBox="1"/>
          <p:nvPr/>
        </p:nvSpPr>
        <p:spPr>
          <a:xfrm>
            <a:off x="3541699" y="6068695"/>
            <a:ext cx="2352979" cy="315366"/>
          </a:xfrm>
          <a:prstGeom prst="rect">
            <a:avLst/>
          </a:prstGeom>
          <a:noFill/>
        </p:spPr>
        <p:txBody>
          <a:bodyPr wrap="square" lIns="0" rIns="0" tIns="0" bIns="0" anchor="t">
            <a:spAutoFit/>
          </a:bodyPr>
          <a:lstStyle/>
          <a:p>
            <a:pPr algn="l">
              <a:lnSpc>
                <a:spcPts val="1169"/>
              </a:lnSpc>
            </a:pPr>
            <a:r>
              <a:rPr sz="860">
                <a:solidFill>
                  <a:srgbClr val="ADB3C6"/>
                </a:solidFill>
                <a:latin typeface="Segoe UI"/>
              </a:rPr>
              <a:t>So the number can be checked rather than trusted.</a:t>
            </a:r>
          </a:p>
        </p:txBody>
      </p:sp>
      <p:sp>
        <p:nvSpPr>
          <p:cNvPr id="24" name="TextBox 23"/>
          <p:cNvSpPr txBox="1"/>
          <p:nvPr/>
        </p:nvSpPr>
        <p:spPr>
          <a:xfrm>
            <a:off x="6297014" y="5696331"/>
            <a:ext cx="2352979" cy="177038"/>
          </a:xfrm>
          <a:prstGeom prst="rect">
            <a:avLst/>
          </a:prstGeom>
          <a:noFill/>
        </p:spPr>
        <p:txBody>
          <a:bodyPr wrap="square" lIns="0" rIns="0" tIns="0" bIns="0" anchor="t">
            <a:spAutoFit/>
          </a:bodyPr>
          <a:lstStyle/>
          <a:p>
            <a:pPr algn="l">
              <a:lnSpc>
                <a:spcPts val="1250"/>
              </a:lnSpc>
            </a:pPr>
            <a:r>
              <a:rPr sz="1000">
                <a:solidFill>
                  <a:srgbClr val="F0A63C"/>
                </a:solidFill>
                <a:latin typeface="Segoe UI Semibold"/>
              </a:rPr>
              <a:t>It sees only what you may see</a:t>
            </a:r>
          </a:p>
        </p:txBody>
      </p:sp>
      <p:sp>
        <p:nvSpPr>
          <p:cNvPr id="25" name="TextBox 24"/>
          <p:cNvSpPr txBox="1"/>
          <p:nvPr/>
        </p:nvSpPr>
        <p:spPr>
          <a:xfrm>
            <a:off x="6297014" y="5909945"/>
            <a:ext cx="2352979" cy="315366"/>
          </a:xfrm>
          <a:prstGeom prst="rect">
            <a:avLst/>
          </a:prstGeom>
          <a:noFill/>
        </p:spPr>
        <p:txBody>
          <a:bodyPr wrap="square" lIns="0" rIns="0" tIns="0" bIns="0" anchor="t">
            <a:spAutoFit/>
          </a:bodyPr>
          <a:lstStyle/>
          <a:p>
            <a:pPr algn="l">
              <a:lnSpc>
                <a:spcPts val="1169"/>
              </a:lnSpc>
            </a:pPr>
            <a:r>
              <a:rPr sz="860">
                <a:solidFill>
                  <a:srgbClr val="ADB3C6"/>
                </a:solidFill>
                <a:latin typeface="Segoe UI"/>
              </a:rPr>
              <a:t>Your school, and your own permissions. There is no way to ask it about another school.</a:t>
            </a:r>
          </a:p>
        </p:txBody>
      </p:sp>
      <p:sp>
        <p:nvSpPr>
          <p:cNvPr id="26" name="TextBox 25"/>
          <p:cNvSpPr txBox="1"/>
          <p:nvPr/>
        </p:nvSpPr>
        <p:spPr>
          <a:xfrm>
            <a:off x="9052329" y="5696331"/>
            <a:ext cx="2352979" cy="177038"/>
          </a:xfrm>
          <a:prstGeom prst="rect">
            <a:avLst/>
          </a:prstGeom>
          <a:noFill/>
        </p:spPr>
        <p:txBody>
          <a:bodyPr wrap="square" lIns="0" rIns="0" tIns="0" bIns="0" anchor="t">
            <a:spAutoFit/>
          </a:bodyPr>
          <a:lstStyle/>
          <a:p>
            <a:pPr algn="l">
              <a:lnSpc>
                <a:spcPts val="1250"/>
              </a:lnSpc>
            </a:pPr>
            <a:r>
              <a:rPr sz="1000">
                <a:solidFill>
                  <a:srgbClr val="2FB573"/>
                </a:solidFill>
                <a:latin typeface="Segoe UI Semibold"/>
              </a:rPr>
              <a:t>It drafts; you send</a:t>
            </a:r>
          </a:p>
        </p:txBody>
      </p:sp>
      <p:sp>
        <p:nvSpPr>
          <p:cNvPr id="27" name="TextBox 26"/>
          <p:cNvSpPr txBox="1"/>
          <p:nvPr/>
        </p:nvSpPr>
        <p:spPr>
          <a:xfrm>
            <a:off x="9052329" y="5909945"/>
            <a:ext cx="2352979" cy="463905"/>
          </a:xfrm>
          <a:prstGeom prst="rect">
            <a:avLst/>
          </a:prstGeom>
          <a:noFill/>
        </p:spPr>
        <p:txBody>
          <a:bodyPr wrap="square" lIns="0" rIns="0" tIns="0" bIns="0" anchor="t">
            <a:spAutoFit/>
          </a:bodyPr>
          <a:lstStyle/>
          <a:p>
            <a:pPr algn="l">
              <a:lnSpc>
                <a:spcPts val="1169"/>
              </a:lnSpc>
            </a:pPr>
            <a:r>
              <a:rPr sz="860">
                <a:solidFill>
                  <a:srgbClr val="ADB3C6"/>
                </a:solidFill>
                <a:latin typeface="Segoe UI"/>
              </a:rPr>
              <a:t>It can prepare a fee reminder or a notice for a class. Your approval performs the send — it never sends anything itself.</a:t>
            </a:r>
          </a:p>
        </p:txBody>
      </p:sp>
      <p:sp>
        <p:nvSpPr>
          <p:cNvPr id="28" name="TextBox 27"/>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71798F"/>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ycampusview-lockup-dark.png"/>
          <p:cNvPicPr>
            <a:picLocks noChangeAspect="1"/>
          </p:cNvPicPr>
          <p:nvPr/>
        </p:nvPicPr>
        <p:blipFill>
          <a:blip r:embed="rId2"/>
          <a:stretch>
            <a:fillRect/>
          </a:stretch>
        </p:blipFill>
        <p:spPr>
          <a:xfrm>
            <a:off x="786384" y="420624"/>
            <a:ext cx="984778" cy="173736"/>
          </a:xfrm>
          <a:prstGeom prst="rect">
            <a:avLst/>
          </a:prstGeom>
        </p:spPr>
      </p:pic>
      <p:sp>
        <p:nvSpPr>
          <p:cNvPr id="4" name="TextBox 3"/>
          <p:cNvSpPr txBox="1"/>
          <p:nvPr/>
        </p:nvSpPr>
        <p:spPr>
          <a:xfrm>
            <a:off x="786384" y="1042415"/>
            <a:ext cx="6400800" cy="191643"/>
          </a:xfrm>
          <a:prstGeom prst="rect">
            <a:avLst/>
          </a:prstGeom>
          <a:noFill/>
        </p:spPr>
        <p:txBody>
          <a:bodyPr wrap="square" lIns="0" rIns="0" tIns="0" bIns="0" anchor="t">
            <a:spAutoFit/>
          </a:bodyPr>
          <a:lstStyle/>
          <a:p>
            <a:pPr algn="l">
              <a:lnSpc>
                <a:spcPts val="1365"/>
              </a:lnSpc>
            </a:pPr>
            <a:r>
              <a:rPr sz="1050" spc="180">
                <a:solidFill>
                  <a:srgbClr val="2FB573"/>
                </a:solidFill>
                <a:latin typeface="Segoe UI Semibold"/>
              </a:rPr>
              <a:t>FOR THE SCHOOL AS A BUSINESS</a:t>
            </a:r>
          </a:p>
        </p:txBody>
      </p:sp>
      <p:sp>
        <p:nvSpPr>
          <p:cNvPr id="5" name="TextBox 4"/>
          <p:cNvSpPr txBox="1"/>
          <p:nvPr/>
        </p:nvSpPr>
        <p:spPr>
          <a:xfrm>
            <a:off x="786384" y="1398650"/>
            <a:ext cx="5120640" cy="841248"/>
          </a:xfrm>
          <a:prstGeom prst="rect">
            <a:avLst/>
          </a:prstGeom>
          <a:noFill/>
        </p:spPr>
        <p:txBody>
          <a:bodyPr wrap="square" lIns="0" rIns="0" tIns="0" bIns="0" anchor="t">
            <a:spAutoFit/>
          </a:bodyPr>
          <a:lstStyle/>
          <a:p>
            <a:pPr algn="l">
              <a:lnSpc>
                <a:spcPts val="3240"/>
              </a:lnSpc>
            </a:pPr>
            <a:r>
              <a:rPr sz="3000">
                <a:solidFill>
                  <a:srgbClr val="0A1024"/>
                </a:solidFill>
                <a:latin typeface="Segoe UI Semibold"/>
              </a:rPr>
              <a:t>What changes for the people</a:t>
            </a:r>
          </a:p>
          <a:p>
            <a:pPr algn="l">
              <a:lnSpc>
                <a:spcPts val="3240"/>
              </a:lnSpc>
            </a:pPr>
            <a:r>
              <a:rPr sz="3000">
                <a:solidFill>
                  <a:srgbClr val="0A1024"/>
                </a:solidFill>
                <a:latin typeface="Segoe UI Semibold"/>
              </a:rPr>
              <a:t>who own the outcome.</a:t>
            </a:r>
          </a:p>
        </p:txBody>
      </p:sp>
      <p:sp>
        <p:nvSpPr>
          <p:cNvPr id="6" name="TextBox 5"/>
          <p:cNvSpPr txBox="1"/>
          <p:nvPr/>
        </p:nvSpPr>
        <p:spPr>
          <a:xfrm>
            <a:off x="786384" y="2495930"/>
            <a:ext cx="5120640" cy="181165"/>
          </a:xfrm>
          <a:prstGeom prst="rect">
            <a:avLst/>
          </a:prstGeom>
          <a:noFill/>
        </p:spPr>
        <p:txBody>
          <a:bodyPr wrap="square" lIns="0" rIns="0" tIns="0" bIns="0" anchor="t">
            <a:spAutoFit/>
          </a:bodyPr>
          <a:lstStyle/>
          <a:p>
            <a:pPr algn="l">
              <a:lnSpc>
                <a:spcPts val="1282"/>
              </a:lnSpc>
            </a:pPr>
            <a:r>
              <a:rPr sz="950" spc="140">
                <a:solidFill>
                  <a:srgbClr val="8A92A3"/>
                </a:solidFill>
                <a:latin typeface="Segoe UI Semibold"/>
              </a:rPr>
              <a:t>THE BUSINESS CASE</a:t>
            </a:r>
          </a:p>
        </p:txBody>
      </p:sp>
      <p:sp>
        <p:nvSpPr>
          <p:cNvPr id="7" name="Rectangle 6"/>
          <p:cNvSpPr/>
          <p:nvPr/>
        </p:nvSpPr>
        <p:spPr>
          <a:xfrm>
            <a:off x="786384" y="2859975"/>
            <a:ext cx="2368296"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987991"/>
            <a:ext cx="2368296" cy="175640"/>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Fewer enquiries quietly lost</a:t>
            </a:r>
          </a:p>
        </p:txBody>
      </p:sp>
      <p:sp>
        <p:nvSpPr>
          <p:cNvPr id="9" name="TextBox 8"/>
          <p:cNvSpPr txBox="1"/>
          <p:nvPr/>
        </p:nvSpPr>
        <p:spPr>
          <a:xfrm>
            <a:off x="786384" y="3195635"/>
            <a:ext cx="2368296" cy="315366"/>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Every enquiry owned, with a follow-up that has a name and a date against it.</a:t>
            </a:r>
          </a:p>
        </p:txBody>
      </p:sp>
      <p:sp>
        <p:nvSpPr>
          <p:cNvPr id="10" name="Rectangle 9"/>
          <p:cNvSpPr/>
          <p:nvPr/>
        </p:nvSpPr>
        <p:spPr>
          <a:xfrm>
            <a:off x="3538728" y="2859975"/>
            <a:ext cx="2368296"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38728" y="2987991"/>
            <a:ext cx="2368296" cy="175640"/>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Fee income arrives sooner</a:t>
            </a:r>
          </a:p>
        </p:txBody>
      </p:sp>
      <p:sp>
        <p:nvSpPr>
          <p:cNvPr id="12" name="TextBox 11"/>
          <p:cNvSpPr txBox="1"/>
          <p:nvPr/>
        </p:nvSpPr>
        <p:spPr>
          <a:xfrm>
            <a:off x="3538728" y="3195635"/>
            <a:ext cx="2368296" cy="463905"/>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Outstanding is a screen, arrears are aged by family, and the follow-up call goes to the right people rather than the whole class.</a:t>
            </a:r>
          </a:p>
        </p:txBody>
      </p:sp>
      <p:sp>
        <p:nvSpPr>
          <p:cNvPr id="13" name="Rectangle 12"/>
          <p:cNvSpPr/>
          <p:nvPr/>
        </p:nvSpPr>
        <p:spPr>
          <a:xfrm>
            <a:off x="786384" y="3915572"/>
            <a:ext cx="2368296"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4043588"/>
            <a:ext cx="2368296" cy="175640"/>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Less manual work, not relocated work</a:t>
            </a:r>
          </a:p>
        </p:txBody>
      </p:sp>
      <p:sp>
        <p:nvSpPr>
          <p:cNvPr id="15" name="TextBox 14"/>
          <p:cNvSpPr txBox="1"/>
          <p:nvPr/>
        </p:nvSpPr>
        <p:spPr>
          <a:xfrm>
            <a:off x="786384" y="4251232"/>
            <a:ext cx="2368296" cy="463905"/>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Entered once. No reconciliation between an SIS, an accounting package and a messaging tool, because there are not three systems.</a:t>
            </a:r>
          </a:p>
        </p:txBody>
      </p:sp>
      <p:sp>
        <p:nvSpPr>
          <p:cNvPr id="16" name="Rectangle 15"/>
          <p:cNvSpPr/>
          <p:nvPr/>
        </p:nvSpPr>
        <p:spPr>
          <a:xfrm>
            <a:off x="3538728" y="3915572"/>
            <a:ext cx="2368296"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8728" y="4043588"/>
            <a:ext cx="2368296" cy="175640"/>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Decisions on today's figures</a:t>
            </a:r>
          </a:p>
        </p:txBody>
      </p:sp>
      <p:sp>
        <p:nvSpPr>
          <p:cNvPr id="18" name="TextBox 17"/>
          <p:cNvSpPr txBox="1"/>
          <p:nvPr/>
        </p:nvSpPr>
        <p:spPr>
          <a:xfrm>
            <a:off x="3538728" y="4251232"/>
            <a:ext cx="2368296" cy="463905"/>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Strength, attendance, collection and results read live, so a board or trustee meeting is given the position rather than last week's.</a:t>
            </a:r>
          </a:p>
        </p:txBody>
      </p:sp>
      <p:sp>
        <p:nvSpPr>
          <p:cNvPr id="19" name="Rectangle 18"/>
          <p:cNvSpPr/>
          <p:nvPr/>
        </p:nvSpPr>
        <p:spPr>
          <a:xfrm>
            <a:off x="786384" y="4971169"/>
            <a:ext cx="2368296"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5099185"/>
            <a:ext cx="2368296" cy="175640"/>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Less key-person risk</a:t>
            </a:r>
          </a:p>
        </p:txBody>
      </p:sp>
      <p:sp>
        <p:nvSpPr>
          <p:cNvPr id="21" name="TextBox 20"/>
          <p:cNvSpPr txBox="1"/>
          <p:nvPr/>
        </p:nvSpPr>
        <p:spPr>
          <a:xfrm>
            <a:off x="786384" y="5306829"/>
            <a:ext cx="2368296" cy="463905"/>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The school's operations live in the system rather than in one person's spreadsheet and their memory of how it works.</a:t>
            </a:r>
          </a:p>
        </p:txBody>
      </p:sp>
      <p:sp>
        <p:nvSpPr>
          <p:cNvPr id="22" name="Rectangle 21"/>
          <p:cNvSpPr/>
          <p:nvPr/>
        </p:nvSpPr>
        <p:spPr>
          <a:xfrm>
            <a:off x="3538728" y="4971169"/>
            <a:ext cx="2368296" cy="11430"/>
          </a:xfrm>
          <a:prstGeom prst="rect">
            <a:avLst/>
          </a:prstGeom>
          <a:solidFill>
            <a:srgbClr val="DF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38728" y="5099185"/>
            <a:ext cx="2368296" cy="175640"/>
          </a:xfrm>
          <a:prstGeom prst="rect">
            <a:avLst/>
          </a:prstGeom>
          <a:noFill/>
        </p:spPr>
        <p:txBody>
          <a:bodyPr wrap="square" lIns="0" rIns="0" tIns="0" bIns="0" anchor="t">
            <a:spAutoFit/>
          </a:bodyPr>
          <a:lstStyle/>
          <a:p>
            <a:pPr algn="l">
              <a:lnSpc>
                <a:spcPts val="1238"/>
              </a:lnSpc>
            </a:pPr>
            <a:r>
              <a:rPr sz="1050">
                <a:solidFill>
                  <a:srgbClr val="0A1024"/>
                </a:solidFill>
                <a:latin typeface="Segoe UI Semibold"/>
              </a:rPr>
              <a:t>A brand parents recognise</a:t>
            </a:r>
          </a:p>
        </p:txBody>
      </p:sp>
      <p:sp>
        <p:nvSpPr>
          <p:cNvPr id="24" name="TextBox 23"/>
          <p:cNvSpPr txBox="1"/>
          <p:nvPr/>
        </p:nvSpPr>
        <p:spPr>
          <a:xfrm>
            <a:off x="3538728" y="5306829"/>
            <a:ext cx="2368296" cy="463905"/>
          </a:xfrm>
          <a:prstGeom prst="rect">
            <a:avLst/>
          </a:prstGeom>
          <a:noFill/>
        </p:spPr>
        <p:txBody>
          <a:bodyPr wrap="square" lIns="0" rIns="0" tIns="0" bIns="0" anchor="t">
            <a:spAutoFit/>
          </a:bodyPr>
          <a:lstStyle/>
          <a:p>
            <a:pPr algn="l">
              <a:lnSpc>
                <a:spcPts val="1169"/>
              </a:lnSpc>
            </a:pPr>
            <a:r>
              <a:rPr sz="860">
                <a:solidFill>
                  <a:srgbClr val="535B6E"/>
                </a:solidFill>
                <a:latin typeface="Segoe UI"/>
              </a:rPr>
              <a:t>Your name, logo and colours through the application, its receipts and report cards, and your website, on a domain you own.</a:t>
            </a:r>
          </a:p>
        </p:txBody>
      </p:sp>
      <p:sp>
        <p:nvSpPr>
          <p:cNvPr id="25" name="Rounded Rectangle 24"/>
          <p:cNvSpPr/>
          <p:nvPr/>
        </p:nvSpPr>
        <p:spPr>
          <a:xfrm>
            <a:off x="6272784" y="1005840"/>
            <a:ext cx="5534863" cy="4882896"/>
          </a:xfrm>
          <a:prstGeom prst="roundRect">
            <a:avLst>
              <a:gd name="adj" fmla="val 3200"/>
            </a:avLst>
          </a:prstGeom>
          <a:solidFill>
            <a:srgbClr val="F4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1335024"/>
            <a:ext cx="4730191" cy="181165"/>
          </a:xfrm>
          <a:prstGeom prst="rect">
            <a:avLst/>
          </a:prstGeom>
          <a:noFill/>
        </p:spPr>
        <p:txBody>
          <a:bodyPr wrap="square" lIns="0" rIns="0" tIns="0" bIns="0" anchor="t">
            <a:spAutoFit/>
          </a:bodyPr>
          <a:lstStyle/>
          <a:p>
            <a:pPr algn="l">
              <a:lnSpc>
                <a:spcPts val="1282"/>
              </a:lnSpc>
            </a:pPr>
            <a:r>
              <a:rPr sz="950" spc="140">
                <a:solidFill>
                  <a:srgbClr val="6C4BF4"/>
                </a:solidFill>
                <a:latin typeface="Segoe UI Semibold"/>
              </a:rPr>
              <a:t>FROM FIRST CALL TO LIVE</a:t>
            </a:r>
          </a:p>
        </p:txBody>
      </p:sp>
      <p:sp>
        <p:nvSpPr>
          <p:cNvPr id="27" name="TextBox 26"/>
          <p:cNvSpPr txBox="1"/>
          <p:nvPr/>
        </p:nvSpPr>
        <p:spPr>
          <a:xfrm>
            <a:off x="6675120" y="1680781"/>
            <a:ext cx="384048" cy="198310"/>
          </a:xfrm>
          <a:prstGeom prst="rect">
            <a:avLst/>
          </a:prstGeom>
          <a:noFill/>
        </p:spPr>
        <p:txBody>
          <a:bodyPr wrap="square" lIns="0" rIns="0" tIns="0" bIns="0" anchor="t">
            <a:spAutoFit/>
          </a:bodyPr>
          <a:lstStyle/>
          <a:p>
            <a:pPr algn="l">
              <a:lnSpc>
                <a:spcPts val="1417"/>
              </a:lnSpc>
            </a:pPr>
            <a:r>
              <a:rPr sz="1050">
                <a:solidFill>
                  <a:srgbClr val="4EA3F5"/>
                </a:solidFill>
                <a:latin typeface="Segoe UI Semibold"/>
              </a:rPr>
              <a:t>01</a:t>
            </a:r>
          </a:p>
        </p:txBody>
      </p:sp>
      <p:sp>
        <p:nvSpPr>
          <p:cNvPr id="28" name="TextBox 27"/>
          <p:cNvSpPr txBox="1"/>
          <p:nvPr/>
        </p:nvSpPr>
        <p:spPr>
          <a:xfrm>
            <a:off x="7095744" y="1669809"/>
            <a:ext cx="2377440" cy="215455"/>
          </a:xfrm>
          <a:prstGeom prst="rect">
            <a:avLst/>
          </a:prstGeom>
          <a:noFill/>
        </p:spPr>
        <p:txBody>
          <a:bodyPr wrap="square" lIns="0" rIns="0" tIns="0" bIns="0" anchor="t">
            <a:spAutoFit/>
          </a:bodyPr>
          <a:lstStyle/>
          <a:p>
            <a:pPr algn="l">
              <a:lnSpc>
                <a:spcPts val="1552"/>
              </a:lnSpc>
            </a:pPr>
            <a:r>
              <a:rPr sz="1150">
                <a:solidFill>
                  <a:srgbClr val="0A1024"/>
                </a:solidFill>
                <a:latin typeface="Segoe UI Semibold"/>
              </a:rPr>
              <a:t>Discovery</a:t>
            </a:r>
          </a:p>
        </p:txBody>
      </p:sp>
      <p:sp>
        <p:nvSpPr>
          <p:cNvPr id="29" name="TextBox 28"/>
          <p:cNvSpPr txBox="1"/>
          <p:nvPr/>
        </p:nvSpPr>
        <p:spPr>
          <a:xfrm>
            <a:off x="8869680" y="1680781"/>
            <a:ext cx="2535631" cy="169164"/>
          </a:xfrm>
          <a:prstGeom prst="rect">
            <a:avLst/>
          </a:prstGeom>
          <a:noFill/>
        </p:spPr>
        <p:txBody>
          <a:bodyPr wrap="square" lIns="0" rIns="0" tIns="0" bIns="0" anchor="t">
            <a:spAutoFit/>
          </a:bodyPr>
          <a:lstStyle/>
          <a:p>
            <a:pPr algn="r">
              <a:lnSpc>
                <a:spcPts val="1188"/>
              </a:lnSpc>
            </a:pPr>
            <a:r>
              <a:rPr sz="880">
                <a:solidFill>
                  <a:srgbClr val="8A92A3"/>
                </a:solidFill>
                <a:latin typeface="Segoe UI"/>
              </a:rPr>
              <a:t>Week 1</a:t>
            </a:r>
          </a:p>
        </p:txBody>
      </p:sp>
      <p:sp>
        <p:nvSpPr>
          <p:cNvPr id="30" name="TextBox 29"/>
          <p:cNvSpPr txBox="1"/>
          <p:nvPr/>
        </p:nvSpPr>
        <p:spPr>
          <a:xfrm>
            <a:off x="7095744" y="1909381"/>
            <a:ext cx="4309567" cy="306628"/>
          </a:xfrm>
          <a:prstGeom prst="rect">
            <a:avLst/>
          </a:prstGeom>
          <a:noFill/>
        </p:spPr>
        <p:txBody>
          <a:bodyPr wrap="square" lIns="0" rIns="0" tIns="0" bIns="0" anchor="t">
            <a:spAutoFit/>
          </a:bodyPr>
          <a:lstStyle/>
          <a:p>
            <a:pPr algn="l">
              <a:lnSpc>
                <a:spcPts val="1135"/>
              </a:lnSpc>
            </a:pPr>
            <a:r>
              <a:rPr sz="860">
                <a:solidFill>
                  <a:srgbClr val="535B6E"/>
                </a:solidFill>
                <a:latin typeface="Segoe UI"/>
              </a:rPr>
              <a:t>Half a day on how your school runs today, usually with the principal and the head of accounts.</a:t>
            </a:r>
          </a:p>
        </p:txBody>
      </p:sp>
      <p:sp>
        <p:nvSpPr>
          <p:cNvPr id="31" name="TextBox 30"/>
          <p:cNvSpPr txBox="1"/>
          <p:nvPr/>
        </p:nvSpPr>
        <p:spPr>
          <a:xfrm>
            <a:off x="6675120" y="2334881"/>
            <a:ext cx="384048" cy="198310"/>
          </a:xfrm>
          <a:prstGeom prst="rect">
            <a:avLst/>
          </a:prstGeom>
          <a:noFill/>
        </p:spPr>
        <p:txBody>
          <a:bodyPr wrap="square" lIns="0" rIns="0" tIns="0" bIns="0" anchor="t">
            <a:spAutoFit/>
          </a:bodyPr>
          <a:lstStyle/>
          <a:p>
            <a:pPr algn="l">
              <a:lnSpc>
                <a:spcPts val="1417"/>
              </a:lnSpc>
            </a:pPr>
            <a:r>
              <a:rPr sz="1050">
                <a:solidFill>
                  <a:srgbClr val="EF5BA8"/>
                </a:solidFill>
                <a:latin typeface="Segoe UI Semibold"/>
              </a:rPr>
              <a:t>02</a:t>
            </a:r>
          </a:p>
        </p:txBody>
      </p:sp>
      <p:sp>
        <p:nvSpPr>
          <p:cNvPr id="32" name="TextBox 31"/>
          <p:cNvSpPr txBox="1"/>
          <p:nvPr/>
        </p:nvSpPr>
        <p:spPr>
          <a:xfrm>
            <a:off x="7095744" y="2323909"/>
            <a:ext cx="2377440" cy="215455"/>
          </a:xfrm>
          <a:prstGeom prst="rect">
            <a:avLst/>
          </a:prstGeom>
          <a:noFill/>
        </p:spPr>
        <p:txBody>
          <a:bodyPr wrap="square" lIns="0" rIns="0" tIns="0" bIns="0" anchor="t">
            <a:spAutoFit/>
          </a:bodyPr>
          <a:lstStyle/>
          <a:p>
            <a:pPr algn="l">
              <a:lnSpc>
                <a:spcPts val="1552"/>
              </a:lnSpc>
            </a:pPr>
            <a:r>
              <a:rPr sz="1150">
                <a:solidFill>
                  <a:srgbClr val="0A1024"/>
                </a:solidFill>
                <a:latin typeface="Segoe UI Semibold"/>
              </a:rPr>
              <a:t>Configuration</a:t>
            </a:r>
          </a:p>
        </p:txBody>
      </p:sp>
      <p:sp>
        <p:nvSpPr>
          <p:cNvPr id="33" name="TextBox 32"/>
          <p:cNvSpPr txBox="1"/>
          <p:nvPr/>
        </p:nvSpPr>
        <p:spPr>
          <a:xfrm>
            <a:off x="8869680" y="2334881"/>
            <a:ext cx="2535631" cy="169164"/>
          </a:xfrm>
          <a:prstGeom prst="rect">
            <a:avLst/>
          </a:prstGeom>
          <a:noFill/>
        </p:spPr>
        <p:txBody>
          <a:bodyPr wrap="square" lIns="0" rIns="0" tIns="0" bIns="0" anchor="t">
            <a:spAutoFit/>
          </a:bodyPr>
          <a:lstStyle/>
          <a:p>
            <a:pPr algn="r">
              <a:lnSpc>
                <a:spcPts val="1188"/>
              </a:lnSpc>
            </a:pPr>
            <a:r>
              <a:rPr sz="880">
                <a:solidFill>
                  <a:srgbClr val="8A92A3"/>
                </a:solidFill>
                <a:latin typeface="Segoe UI"/>
              </a:rPr>
              <a:t>Weeks 1–2</a:t>
            </a:r>
          </a:p>
        </p:txBody>
      </p:sp>
      <p:sp>
        <p:nvSpPr>
          <p:cNvPr id="34" name="TextBox 33"/>
          <p:cNvSpPr txBox="1"/>
          <p:nvPr/>
        </p:nvSpPr>
        <p:spPr>
          <a:xfrm>
            <a:off x="7095744" y="2563481"/>
            <a:ext cx="4309567" cy="306628"/>
          </a:xfrm>
          <a:prstGeom prst="rect">
            <a:avLst/>
          </a:prstGeom>
          <a:noFill/>
        </p:spPr>
        <p:txBody>
          <a:bodyPr wrap="square" lIns="0" rIns="0" tIns="0" bIns="0" anchor="t">
            <a:spAutoFit/>
          </a:bodyPr>
          <a:lstStyle/>
          <a:p>
            <a:pPr algn="l">
              <a:lnSpc>
                <a:spcPts val="1135"/>
              </a:lnSpc>
            </a:pPr>
            <a:r>
              <a:rPr sz="860">
                <a:solidFill>
                  <a:srgbClr val="535B6E"/>
                </a:solidFill>
                <a:latin typeface="Segoe UI"/>
              </a:rPr>
              <a:t>Classes, sections, subjects, fee heads, grading schemes, roles and branding, as your school uses them.</a:t>
            </a:r>
          </a:p>
        </p:txBody>
      </p:sp>
      <p:sp>
        <p:nvSpPr>
          <p:cNvPr id="35" name="TextBox 34"/>
          <p:cNvSpPr txBox="1"/>
          <p:nvPr/>
        </p:nvSpPr>
        <p:spPr>
          <a:xfrm>
            <a:off x="6675120" y="2988981"/>
            <a:ext cx="384048" cy="198310"/>
          </a:xfrm>
          <a:prstGeom prst="rect">
            <a:avLst/>
          </a:prstGeom>
          <a:noFill/>
        </p:spPr>
        <p:txBody>
          <a:bodyPr wrap="square" lIns="0" rIns="0" tIns="0" bIns="0" anchor="t">
            <a:spAutoFit/>
          </a:bodyPr>
          <a:lstStyle/>
          <a:p>
            <a:pPr algn="l">
              <a:lnSpc>
                <a:spcPts val="1417"/>
              </a:lnSpc>
            </a:pPr>
            <a:r>
              <a:rPr sz="1050">
                <a:solidFill>
                  <a:srgbClr val="F0A63C"/>
                </a:solidFill>
                <a:latin typeface="Segoe UI Semibold"/>
              </a:rPr>
              <a:t>03</a:t>
            </a:r>
          </a:p>
        </p:txBody>
      </p:sp>
      <p:sp>
        <p:nvSpPr>
          <p:cNvPr id="36" name="TextBox 35"/>
          <p:cNvSpPr txBox="1"/>
          <p:nvPr/>
        </p:nvSpPr>
        <p:spPr>
          <a:xfrm>
            <a:off x="7095744" y="2978009"/>
            <a:ext cx="2377440" cy="215455"/>
          </a:xfrm>
          <a:prstGeom prst="rect">
            <a:avLst/>
          </a:prstGeom>
          <a:noFill/>
        </p:spPr>
        <p:txBody>
          <a:bodyPr wrap="square" lIns="0" rIns="0" tIns="0" bIns="0" anchor="t">
            <a:spAutoFit/>
          </a:bodyPr>
          <a:lstStyle/>
          <a:p>
            <a:pPr algn="l">
              <a:lnSpc>
                <a:spcPts val="1552"/>
              </a:lnSpc>
            </a:pPr>
            <a:r>
              <a:rPr sz="1150">
                <a:solidFill>
                  <a:srgbClr val="0A1024"/>
                </a:solidFill>
                <a:latin typeface="Segoe UI Semibold"/>
              </a:rPr>
              <a:t>Data migration</a:t>
            </a:r>
          </a:p>
        </p:txBody>
      </p:sp>
      <p:sp>
        <p:nvSpPr>
          <p:cNvPr id="37" name="TextBox 36"/>
          <p:cNvSpPr txBox="1"/>
          <p:nvPr/>
        </p:nvSpPr>
        <p:spPr>
          <a:xfrm>
            <a:off x="8869680" y="2988981"/>
            <a:ext cx="2535631" cy="169164"/>
          </a:xfrm>
          <a:prstGeom prst="rect">
            <a:avLst/>
          </a:prstGeom>
          <a:noFill/>
        </p:spPr>
        <p:txBody>
          <a:bodyPr wrap="square" lIns="0" rIns="0" tIns="0" bIns="0" anchor="t">
            <a:spAutoFit/>
          </a:bodyPr>
          <a:lstStyle/>
          <a:p>
            <a:pPr algn="r">
              <a:lnSpc>
                <a:spcPts val="1188"/>
              </a:lnSpc>
            </a:pPr>
            <a:r>
              <a:rPr sz="880">
                <a:solidFill>
                  <a:srgbClr val="8A92A3"/>
                </a:solidFill>
                <a:latin typeface="Segoe UI"/>
              </a:rPr>
              <a:t>Weeks 2–3</a:t>
            </a:r>
          </a:p>
        </p:txBody>
      </p:sp>
      <p:sp>
        <p:nvSpPr>
          <p:cNvPr id="38" name="TextBox 37"/>
          <p:cNvSpPr txBox="1"/>
          <p:nvPr/>
        </p:nvSpPr>
        <p:spPr>
          <a:xfrm>
            <a:off x="7095744" y="3217581"/>
            <a:ext cx="4309567" cy="306628"/>
          </a:xfrm>
          <a:prstGeom prst="rect">
            <a:avLst/>
          </a:prstGeom>
          <a:noFill/>
        </p:spPr>
        <p:txBody>
          <a:bodyPr wrap="square" lIns="0" rIns="0" tIns="0" bIns="0" anchor="t">
            <a:spAutoFit/>
          </a:bodyPr>
          <a:lstStyle/>
          <a:p>
            <a:pPr algn="l">
              <a:lnSpc>
                <a:spcPts val="1135"/>
              </a:lnSpc>
            </a:pPr>
            <a:r>
              <a:rPr sz="860">
                <a:solidFill>
                  <a:srgbClr val="535B6E"/>
                </a:solidFill>
                <a:latin typeface="Segoe UI"/>
              </a:rPr>
              <a:t>Students, guardians, fee balances and staff, with totals reconciled against your office before anyone signs in.</a:t>
            </a:r>
          </a:p>
        </p:txBody>
      </p:sp>
      <p:sp>
        <p:nvSpPr>
          <p:cNvPr id="39" name="TextBox 38"/>
          <p:cNvSpPr txBox="1"/>
          <p:nvPr/>
        </p:nvSpPr>
        <p:spPr>
          <a:xfrm>
            <a:off x="6675120" y="3643081"/>
            <a:ext cx="384048" cy="198310"/>
          </a:xfrm>
          <a:prstGeom prst="rect">
            <a:avLst/>
          </a:prstGeom>
          <a:noFill/>
        </p:spPr>
        <p:txBody>
          <a:bodyPr wrap="square" lIns="0" rIns="0" tIns="0" bIns="0" anchor="t">
            <a:spAutoFit/>
          </a:bodyPr>
          <a:lstStyle/>
          <a:p>
            <a:pPr algn="l">
              <a:lnSpc>
                <a:spcPts val="1417"/>
              </a:lnSpc>
            </a:pPr>
            <a:r>
              <a:rPr sz="1050">
                <a:solidFill>
                  <a:srgbClr val="2FB573"/>
                </a:solidFill>
                <a:latin typeface="Segoe UI Semibold"/>
              </a:rPr>
              <a:t>04</a:t>
            </a:r>
          </a:p>
        </p:txBody>
      </p:sp>
      <p:sp>
        <p:nvSpPr>
          <p:cNvPr id="40" name="TextBox 39"/>
          <p:cNvSpPr txBox="1"/>
          <p:nvPr/>
        </p:nvSpPr>
        <p:spPr>
          <a:xfrm>
            <a:off x="7095744" y="3632109"/>
            <a:ext cx="2377440" cy="215455"/>
          </a:xfrm>
          <a:prstGeom prst="rect">
            <a:avLst/>
          </a:prstGeom>
          <a:noFill/>
        </p:spPr>
        <p:txBody>
          <a:bodyPr wrap="square" lIns="0" rIns="0" tIns="0" bIns="0" anchor="t">
            <a:spAutoFit/>
          </a:bodyPr>
          <a:lstStyle/>
          <a:p>
            <a:pPr algn="l">
              <a:lnSpc>
                <a:spcPts val="1552"/>
              </a:lnSpc>
            </a:pPr>
            <a:r>
              <a:rPr sz="1150">
                <a:solidFill>
                  <a:srgbClr val="0A1024"/>
                </a:solidFill>
                <a:latin typeface="Segoe UI Semibold"/>
              </a:rPr>
              <a:t>Training</a:t>
            </a:r>
          </a:p>
        </p:txBody>
      </p:sp>
      <p:sp>
        <p:nvSpPr>
          <p:cNvPr id="41" name="TextBox 40"/>
          <p:cNvSpPr txBox="1"/>
          <p:nvPr/>
        </p:nvSpPr>
        <p:spPr>
          <a:xfrm>
            <a:off x="8869680" y="3643081"/>
            <a:ext cx="2535631" cy="169164"/>
          </a:xfrm>
          <a:prstGeom prst="rect">
            <a:avLst/>
          </a:prstGeom>
          <a:noFill/>
        </p:spPr>
        <p:txBody>
          <a:bodyPr wrap="square" lIns="0" rIns="0" tIns="0" bIns="0" anchor="t">
            <a:spAutoFit/>
          </a:bodyPr>
          <a:lstStyle/>
          <a:p>
            <a:pPr algn="r">
              <a:lnSpc>
                <a:spcPts val="1188"/>
              </a:lnSpc>
            </a:pPr>
            <a:r>
              <a:rPr sz="880">
                <a:solidFill>
                  <a:srgbClr val="8A92A3"/>
                </a:solidFill>
                <a:latin typeface="Segoe UI"/>
              </a:rPr>
              <a:t>Weeks 3–4</a:t>
            </a:r>
          </a:p>
        </p:txBody>
      </p:sp>
      <p:sp>
        <p:nvSpPr>
          <p:cNvPr id="42" name="TextBox 41"/>
          <p:cNvSpPr txBox="1"/>
          <p:nvPr/>
        </p:nvSpPr>
        <p:spPr>
          <a:xfrm>
            <a:off x="7095744" y="3871681"/>
            <a:ext cx="4309567" cy="306628"/>
          </a:xfrm>
          <a:prstGeom prst="rect">
            <a:avLst/>
          </a:prstGeom>
          <a:noFill/>
        </p:spPr>
        <p:txBody>
          <a:bodyPr wrap="square" lIns="0" rIns="0" tIns="0" bIns="0" anchor="t">
            <a:spAutoFit/>
          </a:bodyPr>
          <a:lstStyle/>
          <a:p>
            <a:pPr algn="l">
              <a:lnSpc>
                <a:spcPts val="1135"/>
              </a:lnSpc>
            </a:pPr>
            <a:r>
              <a:rPr sz="860">
                <a:solidFill>
                  <a:srgbClr val="535B6E"/>
                </a:solidFill>
                <a:latin typeface="Segoe UI"/>
              </a:rPr>
              <a:t>Separate sessions for the office, for teachers and for your administrator. Recorded, so a new joiner can watch them.</a:t>
            </a:r>
          </a:p>
        </p:txBody>
      </p:sp>
      <p:sp>
        <p:nvSpPr>
          <p:cNvPr id="43" name="TextBox 42"/>
          <p:cNvSpPr txBox="1"/>
          <p:nvPr/>
        </p:nvSpPr>
        <p:spPr>
          <a:xfrm>
            <a:off x="6675120" y="4297181"/>
            <a:ext cx="384048" cy="198310"/>
          </a:xfrm>
          <a:prstGeom prst="rect">
            <a:avLst/>
          </a:prstGeom>
          <a:noFill/>
        </p:spPr>
        <p:txBody>
          <a:bodyPr wrap="square" lIns="0" rIns="0" tIns="0" bIns="0" anchor="t">
            <a:spAutoFit/>
          </a:bodyPr>
          <a:lstStyle/>
          <a:p>
            <a:pPr algn="l">
              <a:lnSpc>
                <a:spcPts val="1417"/>
              </a:lnSpc>
            </a:pPr>
            <a:r>
              <a:rPr sz="1050">
                <a:solidFill>
                  <a:srgbClr val="B57FF0"/>
                </a:solidFill>
                <a:latin typeface="Segoe UI Semibold"/>
              </a:rPr>
              <a:t>05</a:t>
            </a:r>
          </a:p>
        </p:txBody>
      </p:sp>
      <p:sp>
        <p:nvSpPr>
          <p:cNvPr id="44" name="TextBox 43"/>
          <p:cNvSpPr txBox="1"/>
          <p:nvPr/>
        </p:nvSpPr>
        <p:spPr>
          <a:xfrm>
            <a:off x="7095744" y="4286209"/>
            <a:ext cx="2377440" cy="215455"/>
          </a:xfrm>
          <a:prstGeom prst="rect">
            <a:avLst/>
          </a:prstGeom>
          <a:noFill/>
        </p:spPr>
        <p:txBody>
          <a:bodyPr wrap="square" lIns="0" rIns="0" tIns="0" bIns="0" anchor="t">
            <a:spAutoFit/>
          </a:bodyPr>
          <a:lstStyle/>
          <a:p>
            <a:pPr algn="l">
              <a:lnSpc>
                <a:spcPts val="1552"/>
              </a:lnSpc>
            </a:pPr>
            <a:r>
              <a:rPr sz="1150">
                <a:solidFill>
                  <a:srgbClr val="0A1024"/>
                </a:solidFill>
                <a:latin typeface="Segoe UI Semibold"/>
              </a:rPr>
              <a:t>Launch</a:t>
            </a:r>
          </a:p>
        </p:txBody>
      </p:sp>
      <p:sp>
        <p:nvSpPr>
          <p:cNvPr id="45" name="TextBox 44"/>
          <p:cNvSpPr txBox="1"/>
          <p:nvPr/>
        </p:nvSpPr>
        <p:spPr>
          <a:xfrm>
            <a:off x="8869680" y="4297181"/>
            <a:ext cx="2535631" cy="169164"/>
          </a:xfrm>
          <a:prstGeom prst="rect">
            <a:avLst/>
          </a:prstGeom>
          <a:noFill/>
        </p:spPr>
        <p:txBody>
          <a:bodyPr wrap="square" lIns="0" rIns="0" tIns="0" bIns="0" anchor="t">
            <a:spAutoFit/>
          </a:bodyPr>
          <a:lstStyle/>
          <a:p>
            <a:pPr algn="r">
              <a:lnSpc>
                <a:spcPts val="1188"/>
              </a:lnSpc>
            </a:pPr>
            <a:r>
              <a:rPr sz="880">
                <a:solidFill>
                  <a:srgbClr val="8A92A3"/>
                </a:solidFill>
                <a:latin typeface="Segoe UI"/>
              </a:rPr>
              <a:t>Week 4</a:t>
            </a:r>
          </a:p>
        </p:txBody>
      </p:sp>
      <p:sp>
        <p:nvSpPr>
          <p:cNvPr id="46" name="TextBox 45"/>
          <p:cNvSpPr txBox="1"/>
          <p:nvPr/>
        </p:nvSpPr>
        <p:spPr>
          <a:xfrm>
            <a:off x="7095744" y="4525781"/>
            <a:ext cx="4309567" cy="306628"/>
          </a:xfrm>
          <a:prstGeom prst="rect">
            <a:avLst/>
          </a:prstGeom>
          <a:noFill/>
        </p:spPr>
        <p:txBody>
          <a:bodyPr wrap="square" lIns="0" rIns="0" tIns="0" bIns="0" anchor="t">
            <a:spAutoFit/>
          </a:bodyPr>
          <a:lstStyle/>
          <a:p>
            <a:pPr algn="l">
              <a:lnSpc>
                <a:spcPts val="1135"/>
              </a:lnSpc>
            </a:pPr>
            <a:r>
              <a:rPr sz="860">
                <a:solidFill>
                  <a:srgbClr val="535B6E"/>
                </a:solidFill>
                <a:latin typeface="Segoe UI"/>
              </a:rPr>
              <a:t>Attendance and fees go live at a term boundary. Parent sign-in opens once the office is comfortable.</a:t>
            </a:r>
          </a:p>
        </p:txBody>
      </p:sp>
      <p:sp>
        <p:nvSpPr>
          <p:cNvPr id="47" name="TextBox 46"/>
          <p:cNvSpPr txBox="1"/>
          <p:nvPr/>
        </p:nvSpPr>
        <p:spPr>
          <a:xfrm>
            <a:off x="6675120" y="4951281"/>
            <a:ext cx="384048" cy="198310"/>
          </a:xfrm>
          <a:prstGeom prst="rect">
            <a:avLst/>
          </a:prstGeom>
          <a:noFill/>
        </p:spPr>
        <p:txBody>
          <a:bodyPr wrap="square" lIns="0" rIns="0" tIns="0" bIns="0" anchor="t">
            <a:spAutoFit/>
          </a:bodyPr>
          <a:lstStyle/>
          <a:p>
            <a:pPr algn="l">
              <a:lnSpc>
                <a:spcPts val="1417"/>
              </a:lnSpc>
            </a:pPr>
            <a:r>
              <a:rPr sz="1050">
                <a:solidFill>
                  <a:srgbClr val="4EA3F5"/>
                </a:solidFill>
                <a:latin typeface="Segoe UI Semibold"/>
              </a:rPr>
              <a:t>06</a:t>
            </a:r>
          </a:p>
        </p:txBody>
      </p:sp>
      <p:sp>
        <p:nvSpPr>
          <p:cNvPr id="48" name="TextBox 47"/>
          <p:cNvSpPr txBox="1"/>
          <p:nvPr/>
        </p:nvSpPr>
        <p:spPr>
          <a:xfrm>
            <a:off x="7095744" y="4940309"/>
            <a:ext cx="2377440" cy="215455"/>
          </a:xfrm>
          <a:prstGeom prst="rect">
            <a:avLst/>
          </a:prstGeom>
          <a:noFill/>
        </p:spPr>
        <p:txBody>
          <a:bodyPr wrap="square" lIns="0" rIns="0" tIns="0" bIns="0" anchor="t">
            <a:spAutoFit/>
          </a:bodyPr>
          <a:lstStyle/>
          <a:p>
            <a:pPr algn="l">
              <a:lnSpc>
                <a:spcPts val="1552"/>
              </a:lnSpc>
            </a:pPr>
            <a:r>
              <a:rPr sz="1150">
                <a:solidFill>
                  <a:srgbClr val="0A1024"/>
                </a:solidFill>
                <a:latin typeface="Segoe UI Semibold"/>
              </a:rPr>
              <a:t>Support</a:t>
            </a:r>
          </a:p>
        </p:txBody>
      </p:sp>
      <p:sp>
        <p:nvSpPr>
          <p:cNvPr id="49" name="TextBox 48"/>
          <p:cNvSpPr txBox="1"/>
          <p:nvPr/>
        </p:nvSpPr>
        <p:spPr>
          <a:xfrm>
            <a:off x="8869680" y="4951281"/>
            <a:ext cx="2535631" cy="169164"/>
          </a:xfrm>
          <a:prstGeom prst="rect">
            <a:avLst/>
          </a:prstGeom>
          <a:noFill/>
        </p:spPr>
        <p:txBody>
          <a:bodyPr wrap="square" lIns="0" rIns="0" tIns="0" bIns="0" anchor="t">
            <a:spAutoFit/>
          </a:bodyPr>
          <a:lstStyle/>
          <a:p>
            <a:pPr algn="r">
              <a:lnSpc>
                <a:spcPts val="1188"/>
              </a:lnSpc>
            </a:pPr>
            <a:r>
              <a:rPr sz="880">
                <a:solidFill>
                  <a:srgbClr val="8A92A3"/>
                </a:solidFill>
                <a:latin typeface="Segoe UI"/>
              </a:rPr>
              <a:t>Ongoing</a:t>
            </a:r>
          </a:p>
        </p:txBody>
      </p:sp>
      <p:sp>
        <p:nvSpPr>
          <p:cNvPr id="50" name="TextBox 49"/>
          <p:cNvSpPr txBox="1"/>
          <p:nvPr/>
        </p:nvSpPr>
        <p:spPr>
          <a:xfrm>
            <a:off x="7095744" y="5179881"/>
            <a:ext cx="4309567" cy="306628"/>
          </a:xfrm>
          <a:prstGeom prst="rect">
            <a:avLst/>
          </a:prstGeom>
          <a:noFill/>
        </p:spPr>
        <p:txBody>
          <a:bodyPr wrap="square" lIns="0" rIns="0" tIns="0" bIns="0" anchor="t">
            <a:spAutoFit/>
          </a:bodyPr>
          <a:lstStyle/>
          <a:p>
            <a:pPr algn="l">
              <a:lnSpc>
                <a:spcPts val="1135"/>
              </a:lnSpc>
            </a:pPr>
            <a:r>
              <a:rPr sz="860">
                <a:solidFill>
                  <a:srgbClr val="535B6E"/>
                </a:solidFill>
                <a:latin typeface="Segoe UI"/>
              </a:rPr>
              <a:t>A named contact for the first term. Every release is applied for you; there is nothing for your IT team to install.</a:t>
            </a:r>
          </a:p>
        </p:txBody>
      </p:sp>
      <p:sp>
        <p:nvSpPr>
          <p:cNvPr id="51" name="TextBox 50"/>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8A92A3"/>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gradFill rotWithShape="1">
            <a:gsLst>
              <a:gs pos="0">
                <a:srgbClr val="6C4BF4">
                  <a:alpha val="42000"/>
                </a:srgbClr>
              </a:gs>
              <a:gs pos="45000">
                <a:srgbClr val="6C4BF4">
                  <a:alpha val="14280"/>
                </a:srgbClr>
              </a:gs>
              <a:gs pos="100000">
                <a:srgbClr val="6C4BF4">
                  <a:alpha val="0"/>
                </a:srgbClr>
              </a:gs>
            </a:gsLst>
            <a:lin ang="81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gradFill rotWithShape="1">
            <a:gsLst>
              <a:gs pos="0">
                <a:srgbClr val="F0A63C">
                  <a:alpha val="13000"/>
                </a:srgbClr>
              </a:gs>
              <a:gs pos="45000">
                <a:srgbClr val="F0A63C">
                  <a:alpha val="4420"/>
                </a:srgbClr>
              </a:gs>
              <a:gs pos="100000">
                <a:srgbClr val="F0A63C">
                  <a:alpha val="0"/>
                </a:srgbClr>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ycampusview-lockup.png"/>
          <p:cNvPicPr>
            <a:picLocks noChangeAspect="1"/>
          </p:cNvPicPr>
          <p:nvPr/>
        </p:nvPicPr>
        <p:blipFill>
          <a:blip r:embed="rId2"/>
          <a:stretch>
            <a:fillRect/>
          </a:stretch>
        </p:blipFill>
        <p:spPr>
          <a:xfrm>
            <a:off x="786384" y="603504"/>
            <a:ext cx="2591522" cy="457200"/>
          </a:xfrm>
          <a:prstGeom prst="rect">
            <a:avLst/>
          </a:prstGeom>
        </p:spPr>
      </p:pic>
      <p:sp>
        <p:nvSpPr>
          <p:cNvPr id="6" name="TextBox 5"/>
          <p:cNvSpPr txBox="1"/>
          <p:nvPr/>
        </p:nvSpPr>
        <p:spPr>
          <a:xfrm>
            <a:off x="786384" y="1865376"/>
            <a:ext cx="5852160" cy="1080008"/>
          </a:xfrm>
          <a:prstGeom prst="rect">
            <a:avLst/>
          </a:prstGeom>
          <a:noFill/>
        </p:spPr>
        <p:txBody>
          <a:bodyPr wrap="square" lIns="0" rIns="0" tIns="0" bIns="0" anchor="t">
            <a:spAutoFit/>
          </a:bodyPr>
          <a:lstStyle/>
          <a:p>
            <a:pPr algn="l">
              <a:lnSpc>
                <a:spcPts val="4180"/>
              </a:lnSpc>
            </a:pPr>
            <a:r>
              <a:rPr sz="3800">
                <a:solidFill>
                  <a:srgbClr val="F6F5F2"/>
                </a:solidFill>
                <a:latin typeface="Segoe UI Semibold"/>
              </a:rPr>
              <a:t>Ready to run your school</a:t>
            </a:r>
          </a:p>
          <a:p>
            <a:pPr algn="l">
              <a:lnSpc>
                <a:spcPts val="4180"/>
              </a:lnSpc>
            </a:pPr>
            <a:r>
              <a:rPr sz="3800">
                <a:solidFill>
                  <a:srgbClr val="F6F5F2"/>
                </a:solidFill>
                <a:latin typeface="Segoe UI Semibold"/>
              </a:rPr>
              <a:t>on one platform?</a:t>
            </a:r>
          </a:p>
        </p:txBody>
      </p:sp>
      <p:sp>
        <p:nvSpPr>
          <p:cNvPr id="7" name="TextBox 6"/>
          <p:cNvSpPr txBox="1"/>
          <p:nvPr/>
        </p:nvSpPr>
        <p:spPr>
          <a:xfrm>
            <a:off x="786384" y="3219704"/>
            <a:ext cx="4937760" cy="732663"/>
          </a:xfrm>
          <a:prstGeom prst="rect">
            <a:avLst/>
          </a:prstGeom>
          <a:noFill/>
        </p:spPr>
        <p:txBody>
          <a:bodyPr wrap="square" lIns="0" rIns="0" tIns="0" bIns="0" anchor="t">
            <a:spAutoFit/>
          </a:bodyPr>
          <a:lstStyle/>
          <a:p>
            <a:pPr algn="l">
              <a:lnSpc>
                <a:spcPts val="1875"/>
              </a:lnSpc>
            </a:pPr>
            <a:r>
              <a:rPr sz="1250">
                <a:solidFill>
                  <a:srgbClr val="ADB3C6"/>
                </a:solidFill>
                <a:latin typeface="Segoe UI"/>
              </a:rPr>
              <a:t>Tell us how your school runs today — what is on paper, what is in spreadsheets, what your current software does badly. The demonstration follows that rather than a script.</a:t>
            </a:r>
          </a:p>
        </p:txBody>
      </p:sp>
      <p:sp>
        <p:nvSpPr>
          <p:cNvPr id="8" name="Rounded Rectangle 7"/>
          <p:cNvSpPr/>
          <p:nvPr/>
        </p:nvSpPr>
        <p:spPr>
          <a:xfrm>
            <a:off x="786384" y="4336415"/>
            <a:ext cx="1975104" cy="548640"/>
          </a:xfrm>
          <a:prstGeom prst="roundRect">
            <a:avLst>
              <a:gd name="adj" fmla="val 50000"/>
            </a:avLst>
          </a:prstGeom>
          <a:solidFill>
            <a:srgbClr val="FFFFFF"/>
          </a:solidFill>
          <a:ln>
            <a:noFill/>
          </a:ln>
          <a:effectLst>
            <a:outerShdw blurRad="330200" dist="114300" dir="5400000" rotWithShape="0">
              <a:srgbClr val="0A1024">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491863"/>
            <a:ext cx="1975104" cy="249745"/>
          </a:xfrm>
          <a:prstGeom prst="rect">
            <a:avLst/>
          </a:prstGeom>
          <a:noFill/>
        </p:spPr>
        <p:txBody>
          <a:bodyPr wrap="square" lIns="0" rIns="0" tIns="0" bIns="0" anchor="t">
            <a:spAutoFit/>
          </a:bodyPr>
          <a:lstStyle/>
          <a:p>
            <a:pPr algn="ctr">
              <a:lnSpc>
                <a:spcPts val="1822"/>
              </a:lnSpc>
            </a:pPr>
            <a:r>
              <a:rPr sz="1350">
                <a:solidFill>
                  <a:srgbClr val="0A1024"/>
                </a:solidFill>
                <a:latin typeface="Segoe UI Semibold"/>
              </a:rPr>
              <a:t>Book a demo</a:t>
            </a:r>
          </a:p>
        </p:txBody>
      </p:sp>
      <p:sp>
        <p:nvSpPr>
          <p:cNvPr id="10" name="TextBox 9"/>
          <p:cNvSpPr txBox="1"/>
          <p:nvPr/>
        </p:nvSpPr>
        <p:spPr>
          <a:xfrm>
            <a:off x="3017520" y="4510151"/>
            <a:ext cx="3108960" cy="232600"/>
          </a:xfrm>
          <a:prstGeom prst="rect">
            <a:avLst/>
          </a:prstGeom>
          <a:noFill/>
        </p:spPr>
        <p:txBody>
          <a:bodyPr wrap="square" lIns="0" rIns="0" tIns="0" bIns="0" anchor="t">
            <a:spAutoFit/>
          </a:bodyPr>
          <a:lstStyle/>
          <a:p>
            <a:pPr algn="l">
              <a:lnSpc>
                <a:spcPts val="1687"/>
              </a:lnSpc>
            </a:pPr>
            <a:r>
              <a:rPr sz="1250">
                <a:solidFill>
                  <a:srgbClr val="F6F5F2"/>
                </a:solidFill>
                <a:latin typeface="Segoe UI"/>
              </a:rPr>
              <a:t>contact@mycampusview.com</a:t>
            </a:r>
          </a:p>
        </p:txBody>
      </p:sp>
      <p:sp>
        <p:nvSpPr>
          <p:cNvPr id="11" name="Rectangle 10"/>
          <p:cNvSpPr/>
          <p:nvPr/>
        </p:nvSpPr>
        <p:spPr>
          <a:xfrm>
            <a:off x="786384" y="5522976"/>
            <a:ext cx="4937760"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5724144"/>
            <a:ext cx="4937760" cy="378968"/>
          </a:xfrm>
          <a:prstGeom prst="rect">
            <a:avLst/>
          </a:prstGeom>
          <a:noFill/>
        </p:spPr>
        <p:txBody>
          <a:bodyPr wrap="square" lIns="0" rIns="0" tIns="0" bIns="0" anchor="t">
            <a:spAutoFit/>
          </a:bodyPr>
          <a:lstStyle/>
          <a:p>
            <a:pPr algn="l">
              <a:lnSpc>
                <a:spcPts val="1420"/>
              </a:lnSpc>
            </a:pPr>
            <a:r>
              <a:rPr sz="1000">
                <a:solidFill>
                  <a:srgbClr val="ADB3C6"/>
                </a:solidFill>
                <a:latin typeface="Segoe UI"/>
              </a:rPr>
              <a:t>We will be straightforward about the modules that are not built yet. If MyCampusView is the wrong fit for your school, we would rather say so on the first call.</a:t>
            </a:r>
          </a:p>
        </p:txBody>
      </p:sp>
      <p:sp>
        <p:nvSpPr>
          <p:cNvPr id="13" name="TextBox 12"/>
          <p:cNvSpPr txBox="1"/>
          <p:nvPr/>
        </p:nvSpPr>
        <p:spPr>
          <a:xfrm>
            <a:off x="7004304" y="1920240"/>
            <a:ext cx="4401007" cy="181165"/>
          </a:xfrm>
          <a:prstGeom prst="rect">
            <a:avLst/>
          </a:prstGeom>
          <a:noFill/>
        </p:spPr>
        <p:txBody>
          <a:bodyPr wrap="square" lIns="0" rIns="0" tIns="0" bIns="0" anchor="t">
            <a:spAutoFit/>
          </a:bodyPr>
          <a:lstStyle/>
          <a:p>
            <a:pPr algn="l">
              <a:lnSpc>
                <a:spcPts val="1282"/>
              </a:lnSpc>
            </a:pPr>
            <a:r>
              <a:rPr sz="950" spc="140">
                <a:solidFill>
                  <a:srgbClr val="F0A63C"/>
                </a:solidFill>
                <a:latin typeface="Segoe UI Semibold"/>
              </a:rPr>
              <a:t>WHAT A DEMONSTRATION INVOLVES</a:t>
            </a:r>
          </a:p>
        </p:txBody>
      </p:sp>
      <p:sp>
        <p:nvSpPr>
          <p:cNvPr id="14" name="Rectangle 13"/>
          <p:cNvSpPr/>
          <p:nvPr/>
        </p:nvSpPr>
        <p:spPr>
          <a:xfrm>
            <a:off x="7004304" y="2265997"/>
            <a:ext cx="4401007"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04304" y="2467165"/>
            <a:ext cx="4401007" cy="225678"/>
          </a:xfrm>
          <a:prstGeom prst="rect">
            <a:avLst/>
          </a:prstGeom>
          <a:noFill/>
        </p:spPr>
        <p:txBody>
          <a:bodyPr wrap="square" lIns="0" rIns="0" tIns="0" bIns="0" anchor="t">
            <a:spAutoFit/>
          </a:bodyPr>
          <a:lstStyle/>
          <a:p>
            <a:pPr algn="l">
              <a:lnSpc>
                <a:spcPts val="1632"/>
              </a:lnSpc>
            </a:pPr>
            <a:r>
              <a:rPr sz="1150">
                <a:solidFill>
                  <a:srgbClr val="ADB3C6"/>
                </a:solidFill>
                <a:latin typeface="Segoe UI"/>
              </a:rPr>
              <a:t>Thirty to forty minutes, on a call, with your screen or ours</a:t>
            </a:r>
          </a:p>
        </p:txBody>
      </p:sp>
      <p:sp>
        <p:nvSpPr>
          <p:cNvPr id="16" name="Rectangle 15"/>
          <p:cNvSpPr/>
          <p:nvPr/>
        </p:nvSpPr>
        <p:spPr>
          <a:xfrm>
            <a:off x="7004304" y="2912299"/>
            <a:ext cx="4401007"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04304" y="3113467"/>
            <a:ext cx="4401007" cy="225678"/>
          </a:xfrm>
          <a:prstGeom prst="rect">
            <a:avLst/>
          </a:prstGeom>
          <a:noFill/>
        </p:spPr>
        <p:txBody>
          <a:bodyPr wrap="square" lIns="0" rIns="0" tIns="0" bIns="0" anchor="t">
            <a:spAutoFit/>
          </a:bodyPr>
          <a:lstStyle/>
          <a:p>
            <a:pPr algn="l">
              <a:lnSpc>
                <a:spcPts val="1632"/>
              </a:lnSpc>
            </a:pPr>
            <a:r>
              <a:rPr sz="1150">
                <a:solidFill>
                  <a:srgbClr val="ADB3C6"/>
                </a:solidFill>
                <a:latin typeface="Segoe UI"/>
              </a:rPr>
              <a:t>Whoever runs admissions, fees or the front office should be there</a:t>
            </a:r>
          </a:p>
        </p:txBody>
      </p:sp>
      <p:sp>
        <p:nvSpPr>
          <p:cNvPr id="18" name="Rectangle 17"/>
          <p:cNvSpPr/>
          <p:nvPr/>
        </p:nvSpPr>
        <p:spPr>
          <a:xfrm>
            <a:off x="7004304" y="3558601"/>
            <a:ext cx="4401007"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04304" y="3759769"/>
            <a:ext cx="4401007" cy="433069"/>
          </a:xfrm>
          <a:prstGeom prst="rect">
            <a:avLst/>
          </a:prstGeom>
          <a:noFill/>
        </p:spPr>
        <p:txBody>
          <a:bodyPr wrap="square" lIns="0" rIns="0" tIns="0" bIns="0" anchor="t">
            <a:spAutoFit/>
          </a:bodyPr>
          <a:lstStyle/>
          <a:p>
            <a:pPr algn="l">
              <a:lnSpc>
                <a:spcPts val="1632"/>
              </a:lnSpc>
            </a:pPr>
            <a:r>
              <a:rPr sz="1150">
                <a:solidFill>
                  <a:srgbClr val="ADB3C6"/>
                </a:solidFill>
                <a:latin typeface="Segoe UI"/>
              </a:rPr>
              <a:t>A written summary afterwards, and a straight note on anything we do not do yet</a:t>
            </a:r>
          </a:p>
        </p:txBody>
      </p:sp>
      <p:sp>
        <p:nvSpPr>
          <p:cNvPr id="20" name="Rectangle 19"/>
          <p:cNvSpPr/>
          <p:nvPr/>
        </p:nvSpPr>
        <p:spPr>
          <a:xfrm>
            <a:off x="7004304" y="4412294"/>
            <a:ext cx="4401007" cy="11430"/>
          </a:xfrm>
          <a:prstGeom prst="rect">
            <a:avLst/>
          </a:prstGeom>
          <a:solidFill>
            <a:srgbClr val="282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04304" y="4613462"/>
            <a:ext cx="4401007" cy="433069"/>
          </a:xfrm>
          <a:prstGeom prst="rect">
            <a:avLst/>
          </a:prstGeom>
          <a:noFill/>
        </p:spPr>
        <p:txBody>
          <a:bodyPr wrap="square" lIns="0" rIns="0" tIns="0" bIns="0" anchor="t">
            <a:spAutoFit/>
          </a:bodyPr>
          <a:lstStyle/>
          <a:p>
            <a:pPr algn="l">
              <a:lnSpc>
                <a:spcPts val="1632"/>
              </a:lnSpc>
            </a:pPr>
            <a:r>
              <a:rPr sz="1150">
                <a:solidFill>
                  <a:srgbClr val="ADB3C6"/>
                </a:solidFill>
                <a:latin typeface="Segoe UI"/>
              </a:rPr>
              <a:t>No mailing list, no weekly chasing, and no pricing pressure on the first call</a:t>
            </a:r>
          </a:p>
        </p:txBody>
      </p:sp>
      <p:sp>
        <p:nvSpPr>
          <p:cNvPr id="22" name="TextBox 21"/>
          <p:cNvSpPr txBox="1"/>
          <p:nvPr/>
        </p:nvSpPr>
        <p:spPr>
          <a:xfrm>
            <a:off x="7004304" y="5724144"/>
            <a:ext cx="4401007" cy="206883"/>
          </a:xfrm>
          <a:prstGeom prst="rect">
            <a:avLst/>
          </a:prstGeom>
          <a:noFill/>
        </p:spPr>
        <p:txBody>
          <a:bodyPr wrap="square" lIns="0" rIns="0" tIns="0" bIns="0" anchor="t">
            <a:spAutoFit/>
          </a:bodyPr>
          <a:lstStyle/>
          <a:p>
            <a:pPr algn="l">
              <a:lnSpc>
                <a:spcPts val="1485"/>
              </a:lnSpc>
            </a:pPr>
            <a:r>
              <a:rPr sz="1100" spc="60">
                <a:solidFill>
                  <a:srgbClr val="F0A63C"/>
                </a:solidFill>
                <a:latin typeface="Segoe UI Semibold"/>
              </a:rPr>
              <a:t>Explore Today, Excel Tomorrow</a:t>
            </a:r>
          </a:p>
        </p:txBody>
      </p:sp>
      <p:sp>
        <p:nvSpPr>
          <p:cNvPr id="23" name="TextBox 22"/>
          <p:cNvSpPr txBox="1"/>
          <p:nvPr/>
        </p:nvSpPr>
        <p:spPr>
          <a:xfrm>
            <a:off x="10308031" y="6309360"/>
            <a:ext cx="1097280" cy="181165"/>
          </a:xfrm>
          <a:prstGeom prst="rect">
            <a:avLst/>
          </a:prstGeom>
          <a:noFill/>
        </p:spPr>
        <p:txBody>
          <a:bodyPr wrap="square" lIns="0" rIns="0" tIns="0" bIns="0" anchor="t">
            <a:spAutoFit/>
          </a:bodyPr>
          <a:lstStyle/>
          <a:p>
            <a:pPr algn="r">
              <a:lnSpc>
                <a:spcPts val="1282"/>
              </a:lnSpc>
            </a:pPr>
            <a:r>
              <a:rPr sz="950" spc="120">
                <a:solidFill>
                  <a:srgbClr val="71798F"/>
                </a:solidFill>
                <a:latin typeface="Segoe U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MyCampusView — one operating system for your entire school</dc:title>
  <dc:subject>School management platform: student information system, admission CRM and school ERP on one database</dc:subject>
  <dc:creator>MyCampusView</dc:creator>
  <cp:keywords/>
  <dc:description>Built by docs/sales-deck/build_deck.py. Copy lives in deck_content.py; screenshots are real captures of the running application.</dc:description>
  <cp:lastModifiedBy>Steve Canny</cp:lastModifiedBy>
  <cp:revision>1</cp:revision>
  <dcterms:created xsi:type="dcterms:W3CDTF">2013-01-27T09:14:16Z</dcterms:created>
  <dcterms:modified xsi:type="dcterms:W3CDTF">2013-01-27T09:15:58Z</dcterms:modified>
  <cp:category>Sales</cp:category>
</cp:coreProperties>
</file>